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type="screen16x9" cy="6858000" cx="12192000"/>
  <p:notesSz cx="6858000" cy="9144000"/>
  <p:defaultTextStyle>
    <a:defPPr>
      <a:defRPr lang="en-PK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tableStyles" Target="tableStyle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7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7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8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71248E4-474C-40F8-85C7-D146D9DE37FB}" type="datetimeFigureOut">
              <a:rPr lang="en-PK" smtClean="0"/>
              <a:t>13/03/2026</a:t>
            </a:fld>
            <a:endParaRPr lang="en-PK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PK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E4C0A5-CA2B-45FD-AB3F-9AF8FB75F008}" type="slidenum">
              <a:rPr lang="en-PK" smtClean="0"/>
              <a:t>‹#›</a:t>
            </a:fld>
            <a:endParaRPr lang="en-PK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71248E4-474C-40F8-85C7-D146D9DE37FB}" type="datetimeFigureOut">
              <a:rPr lang="en-PK" smtClean="0"/>
              <a:t>13/03/2026</a:t>
            </a:fld>
            <a:endParaRPr lang="en-PK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PK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E4C0A5-CA2B-45FD-AB3F-9AF8FB75F008}" type="slidenum">
              <a:rPr lang="en-PK" smtClean="0"/>
              <a:t>‹#›</a:t>
            </a:fld>
            <a:endParaRPr lang="en-PK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1048648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71248E4-474C-40F8-85C7-D146D9DE37FB}" type="datetimeFigureOut">
              <a:rPr lang="en-PK" smtClean="0"/>
              <a:t>13/03/2026</a:t>
            </a:fld>
            <a:endParaRPr lang="en-PK"/>
          </a:p>
        </p:txBody>
      </p:sp>
      <p:sp>
        <p:nvSpPr>
          <p:cNvPr id="104865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PK"/>
          </a:p>
        </p:txBody>
      </p:sp>
      <p:sp>
        <p:nvSpPr>
          <p:cNvPr id="104865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E4C0A5-CA2B-45FD-AB3F-9AF8FB75F008}" type="slidenum">
              <a:rPr lang="en-PK" smtClean="0"/>
              <a:t>‹#›</a:t>
            </a:fld>
            <a:endParaRPr lang="en-PK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104865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104865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104865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71248E4-474C-40F8-85C7-D146D9DE37FB}" type="datetimeFigureOut">
              <a:rPr lang="en-PK" smtClean="0"/>
              <a:t>13/03/2026</a:t>
            </a:fld>
            <a:endParaRPr lang="en-PK"/>
          </a:p>
        </p:txBody>
      </p:sp>
      <p:sp>
        <p:nvSpPr>
          <p:cNvPr id="104865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PK"/>
          </a:p>
        </p:txBody>
      </p:sp>
      <p:sp>
        <p:nvSpPr>
          <p:cNvPr id="104865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E4C0A5-CA2B-45FD-AB3F-9AF8FB75F008}" type="slidenum">
              <a:rPr lang="en-PK" smtClean="0"/>
              <a:t>‹#›</a:t>
            </a:fld>
            <a:endParaRPr lang="en-PK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1048659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0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104866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2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104866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71248E4-474C-40F8-85C7-D146D9DE37FB}" type="datetimeFigureOut">
              <a:rPr lang="en-PK" smtClean="0"/>
              <a:t>13/03/2026</a:t>
            </a:fld>
            <a:endParaRPr lang="en-PK"/>
          </a:p>
        </p:txBody>
      </p:sp>
      <p:sp>
        <p:nvSpPr>
          <p:cNvPr id="104866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PK"/>
          </a:p>
        </p:txBody>
      </p:sp>
      <p:sp>
        <p:nvSpPr>
          <p:cNvPr id="104866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E4C0A5-CA2B-45FD-AB3F-9AF8FB75F008}" type="slidenum">
              <a:rPr lang="en-PK" smtClean="0"/>
              <a:t>‹#›</a:t>
            </a:fld>
            <a:endParaRPr lang="en-PK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104862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71248E4-474C-40F8-85C7-D146D9DE37FB}" type="datetimeFigureOut">
              <a:rPr lang="en-PK" smtClean="0"/>
              <a:t>13/03/2026</a:t>
            </a:fld>
            <a:endParaRPr lang="en-PK"/>
          </a:p>
        </p:txBody>
      </p:sp>
      <p:sp>
        <p:nvSpPr>
          <p:cNvPr id="104862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PK"/>
          </a:p>
        </p:txBody>
      </p:sp>
      <p:sp>
        <p:nvSpPr>
          <p:cNvPr id="104863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E4C0A5-CA2B-45FD-AB3F-9AF8FB75F008}" type="slidenum">
              <a:rPr lang="en-PK" smtClean="0"/>
              <a:t>‹#›</a:t>
            </a:fld>
            <a:endParaRPr lang="en-PK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71248E4-474C-40F8-85C7-D146D9DE37FB}" type="datetimeFigureOut">
              <a:rPr lang="en-PK" smtClean="0"/>
              <a:t>13/03/2026</a:t>
            </a:fld>
            <a:endParaRPr lang="en-PK"/>
          </a:p>
        </p:txBody>
      </p:sp>
      <p:sp>
        <p:nvSpPr>
          <p:cNvPr id="104866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PK"/>
          </a:p>
        </p:txBody>
      </p:sp>
      <p:sp>
        <p:nvSpPr>
          <p:cNvPr id="104866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E4C0A5-CA2B-45FD-AB3F-9AF8FB75F008}" type="slidenum">
              <a:rPr lang="en-PK" smtClean="0"/>
              <a:t>‹#›</a:t>
            </a:fld>
            <a:endParaRPr lang="en-PK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1048670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1048671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71248E4-474C-40F8-85C7-D146D9DE37FB}" type="datetimeFigureOut">
              <a:rPr lang="en-PK" smtClean="0"/>
              <a:t>13/03/2026</a:t>
            </a:fld>
            <a:endParaRPr lang="en-PK"/>
          </a:p>
        </p:txBody>
      </p:sp>
      <p:sp>
        <p:nvSpPr>
          <p:cNvPr id="104867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PK"/>
          </a:p>
        </p:txBody>
      </p:sp>
      <p:sp>
        <p:nvSpPr>
          <p:cNvPr id="104867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E4C0A5-CA2B-45FD-AB3F-9AF8FB75F008}" type="slidenum">
              <a:rPr lang="en-PK" smtClean="0"/>
              <a:t>‹#›</a:t>
            </a:fld>
            <a:endParaRPr lang="en-PK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1048637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PK"/>
          </a:p>
        </p:txBody>
      </p:sp>
      <p:sp>
        <p:nvSpPr>
          <p:cNvPr id="104863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71248E4-474C-40F8-85C7-D146D9DE37FB}" type="datetimeFigureOut">
              <a:rPr lang="en-PK" smtClean="0"/>
              <a:t>13/03/2026</a:t>
            </a:fld>
            <a:endParaRPr lang="en-PK"/>
          </a:p>
        </p:txBody>
      </p:sp>
      <p:sp>
        <p:nvSpPr>
          <p:cNvPr id="10486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PK"/>
          </a:p>
        </p:txBody>
      </p:sp>
      <p:sp>
        <p:nvSpPr>
          <p:cNvPr id="104864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E4C0A5-CA2B-45FD-AB3F-9AF8FB75F008}" type="slidenum">
              <a:rPr lang="en-PK" smtClean="0"/>
              <a:t>‹#›</a:t>
            </a:fld>
            <a:endParaRPr lang="en-PK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104864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104864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71248E4-474C-40F8-85C7-D146D9DE37FB}" type="datetimeFigureOut">
              <a:rPr lang="en-PK" smtClean="0"/>
              <a:t>13/03/2026</a:t>
            </a:fld>
            <a:endParaRPr lang="en-PK"/>
          </a:p>
        </p:txBody>
      </p:sp>
      <p:sp>
        <p:nvSpPr>
          <p:cNvPr id="104864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PK"/>
          </a:p>
        </p:txBody>
      </p:sp>
      <p:sp>
        <p:nvSpPr>
          <p:cNvPr id="10486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E4C0A5-CA2B-45FD-AB3F-9AF8FB75F008}" type="slidenum">
              <a:rPr lang="en-PK" smtClean="0"/>
              <a:t>‹#›</a:t>
            </a:fld>
            <a:endParaRPr lang="en-PK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104863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71248E4-474C-40F8-85C7-D146D9DE37FB}" type="datetimeFigureOut">
              <a:rPr lang="en-PK" smtClean="0"/>
              <a:t>13/03/2026</a:t>
            </a:fld>
            <a:endParaRPr lang="en-PK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PK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E4C0A5-CA2B-45FD-AB3F-9AF8FB75F008}" type="slidenum">
              <a:rPr lang="en-PK" smtClean="0"/>
              <a:t>‹#›</a:t>
            </a:fld>
            <a:endParaRPr lang="en-PK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Corner Top"/>
          <p:cNvSpPr/>
          <p:nvPr userDrawn="1"/>
        </p:nvSpPr>
        <p:spPr>
          <a:xfrm>
            <a:off x="11064240" y="-1188720"/>
            <a:ext cx="2194560" cy="2194560"/>
          </a:xfrm>
          <a:prstGeom prst="ellipse">
            <a:avLst/>
          </a:prstGeom>
          <a:gradFill rotWithShape="1">
            <a:gsLst>
              <a:gs pos="0">
                <a:srgbClr val="2F5BFF">
                  <a:alpha val="90000"/>
                </a:srgbClr>
              </a:gs>
              <a:gs pos="100000">
                <a:srgbClr val="8A2BE2">
                  <a:alpha val="90000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Corner Dot"/>
          <p:cNvSpPr/>
          <p:nvPr userDrawn="1"/>
        </p:nvSpPr>
        <p:spPr>
          <a:xfrm>
            <a:off x="10332720" y="-640080"/>
            <a:ext cx="914400" cy="914400"/>
          </a:xfrm>
          <a:prstGeom prst="ellipse">
            <a:avLst/>
          </a:prstGeom>
          <a:gradFill rotWithShape="1">
            <a:gsLst>
              <a:gs pos="0">
                <a:srgbClr val="8A2BE2">
                  <a:alpha val="70000"/>
                </a:srgbClr>
              </a:gs>
              <a:gs pos="100000">
                <a:srgbClr val="C13DD6">
                  <a:alpha val="70000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3" name="Corner Bottom"/>
          <p:cNvSpPr/>
          <p:nvPr userDrawn="1"/>
        </p:nvSpPr>
        <p:spPr>
          <a:xfrm>
            <a:off x="-822960" y="5989320"/>
            <a:ext cx="1554480" cy="1554480"/>
          </a:xfrm>
          <a:prstGeom prst="ellipse">
            <a:avLst/>
          </a:prstGeom>
          <a:gradFill rotWithShape="1">
            <a:gsLst>
              <a:gs pos="0">
                <a:srgbClr val="2F5BFF">
                  <a:alpha val="60000"/>
                </a:srgbClr>
              </a:gs>
              <a:gs pos="100000">
                <a:srgbClr val="8A2BE2">
                  <a:alpha val="6000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4" name="Bottom Band"/>
          <p:cNvSpPr/>
          <p:nvPr userDrawn="1"/>
        </p:nvSpPr>
        <p:spPr>
          <a:xfrm>
            <a:off x="0" y="6748272"/>
            <a:ext cx="12191695" cy="109728"/>
          </a:xfrm>
          <a:prstGeom prst="rect">
            <a:avLst/>
          </a:prstGeom>
          <a:gradFill rotWithShape="1">
            <a:gsLst>
              <a:gs pos="0">
                <a:srgbClr val="0B1F5C">
                  <a:alpha val="100000"/>
                </a:srgbClr>
              </a:gs>
              <a:gs pos="100000">
                <a:srgbClr val="8A2BE2">
                  <a:alpha val="10000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248E4-474C-40F8-85C7-D146D9DE37FB}" type="datetimeFigureOut">
              <a:rPr lang="en-PK" smtClean="0"/>
              <a:t>13/03/2026</a:t>
            </a:fld>
            <a:endParaRPr lang="en-PK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4C0A5-CA2B-45FD-AB3F-9AF8FB75F008}" type="slidenum">
              <a:rPr lang="en-PK" smtClean="0"/>
              <a:t>‹#›</a:t>
            </a:fld>
            <a:endParaRPr lang="en-PK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 b="1">
          <a:solidFill>
            <a:srgbClr val="14246E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Clr>
          <a:srgbClr val="2F5BFF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Clr>
          <a:srgbClr val="2F5BFF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Clr>
          <a:srgbClr val="2F5BF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Clr>
          <a:srgbClr val="2F5B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Clr>
          <a:srgbClr val="2F5B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Clr>
          <a:srgbClr val="2F5B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Clr>
          <a:srgbClr val="2F5B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Clr>
          <a:srgbClr val="2F5B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Clr>
          <a:srgbClr val="2F5BFF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061245"/>
            </a:gs>
            <a:gs pos="100000">
              <a:srgbClr val="1B3FC9"/>
            </a:gs>
          </a:gsLst>
          <a:lin ang="2700000" scaled="0"/>
        </a:gradFill>
        <a:effectLst/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3" name="Logo Badge"/>
          <p:cNvSpPr/>
          <p:nvPr userDrawn="1"/>
        </p:nvSpPr>
        <p:spPr>
          <a:xfrm>
            <a:off x="822960" y="548640"/>
            <a:ext cx="1234440" cy="1234440"/>
          </a:xfrm>
          <a:prstGeom prst="round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5" name="Deco"/>
          <p:cNvSpPr/>
          <p:nvPr userDrawn="1"/>
        </p:nvSpPr>
        <p:spPr>
          <a:xfrm>
            <a:off x="6949440" y="822960"/>
            <a:ext cx="5303520" cy="5303520"/>
          </a:xfrm>
          <a:prstGeom prst="ellipse">
            <a:avLst/>
          </a:prstGeom>
          <a:gradFill rotWithShape="1">
            <a:gsLst>
              <a:gs pos="0">
                <a:srgbClr val="3B6BFF">
                  <a:alpha val="95000"/>
                </a:srgbClr>
              </a:gs>
              <a:gs pos="100000">
                <a:srgbClr val="8A2BE2">
                  <a:alpha val="95000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6" name="Deco"/>
          <p:cNvSpPr/>
          <p:nvPr userDrawn="1"/>
        </p:nvSpPr>
        <p:spPr>
          <a:xfrm>
            <a:off x="9692640" y="3566160"/>
            <a:ext cx="3108960" cy="3108960"/>
          </a:xfrm>
          <a:prstGeom prst="ellipse">
            <a:avLst/>
          </a:prstGeom>
          <a:gradFill rotWithShape="1">
            <a:gsLst>
              <a:gs pos="0">
                <a:srgbClr val="C13DD6">
                  <a:alpha val="90000"/>
                </a:srgbClr>
              </a:gs>
              <a:gs pos="100000">
                <a:srgbClr val="8A2BE2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7" name="Deco"/>
          <p:cNvSpPr/>
          <p:nvPr userDrawn="1"/>
        </p:nvSpPr>
        <p:spPr>
          <a:xfrm>
            <a:off x="8412480" y="-731520"/>
            <a:ext cx="1463040" cy="1463040"/>
          </a:xfrm>
          <a:prstGeom prst="ellipse">
            <a:avLst/>
          </a:prstGeom>
          <a:gradFill rotWithShape="1">
            <a:gsLst>
              <a:gs pos="0">
                <a:srgbClr val="8A2BE2">
                  <a:alpha val="70000"/>
                </a:srgbClr>
              </a:gs>
              <a:gs pos="100000">
                <a:srgbClr val="C13DD6">
                  <a:alpha val="70000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8" name="Deco"/>
          <p:cNvSpPr/>
          <p:nvPr userDrawn="1"/>
        </p:nvSpPr>
        <p:spPr>
          <a:xfrm>
            <a:off x="6400800" y="5120640"/>
            <a:ext cx="320040" cy="32004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9" name="Dot"/>
          <p:cNvSpPr/>
          <p:nvPr userDrawn="1"/>
        </p:nvSpPr>
        <p:spPr>
          <a:xfrm>
            <a:off x="8778240" y="5212080"/>
            <a:ext cx="64008" cy="64008"/>
          </a:xfrm>
          <a:prstGeom prst="ellips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0" name="Dot"/>
          <p:cNvSpPr/>
          <p:nvPr userDrawn="1"/>
        </p:nvSpPr>
        <p:spPr>
          <a:xfrm>
            <a:off x="8961119" y="5212080"/>
            <a:ext cx="64008" cy="64008"/>
          </a:xfrm>
          <a:prstGeom prst="ellips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1" name="Dot"/>
          <p:cNvSpPr/>
          <p:nvPr userDrawn="1"/>
        </p:nvSpPr>
        <p:spPr>
          <a:xfrm>
            <a:off x="9144000" y="5212080"/>
            <a:ext cx="64008" cy="64008"/>
          </a:xfrm>
          <a:prstGeom prst="ellips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2" name="Dot"/>
          <p:cNvSpPr/>
          <p:nvPr userDrawn="1"/>
        </p:nvSpPr>
        <p:spPr>
          <a:xfrm>
            <a:off x="9326880" y="5212080"/>
            <a:ext cx="64008" cy="64008"/>
          </a:xfrm>
          <a:prstGeom prst="ellips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3" name="Dot"/>
          <p:cNvSpPr/>
          <p:nvPr userDrawn="1"/>
        </p:nvSpPr>
        <p:spPr>
          <a:xfrm>
            <a:off x="9509760" y="5212080"/>
            <a:ext cx="64008" cy="64008"/>
          </a:xfrm>
          <a:prstGeom prst="ellips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4" name="Dot"/>
          <p:cNvSpPr/>
          <p:nvPr userDrawn="1"/>
        </p:nvSpPr>
        <p:spPr>
          <a:xfrm>
            <a:off x="9692640" y="5212080"/>
            <a:ext cx="64008" cy="64008"/>
          </a:xfrm>
          <a:prstGeom prst="ellips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5" name="Dot"/>
          <p:cNvSpPr/>
          <p:nvPr userDrawn="1"/>
        </p:nvSpPr>
        <p:spPr>
          <a:xfrm>
            <a:off x="9875520" y="5212080"/>
            <a:ext cx="64008" cy="64008"/>
          </a:xfrm>
          <a:prstGeom prst="ellips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6" name="Dot"/>
          <p:cNvSpPr/>
          <p:nvPr userDrawn="1"/>
        </p:nvSpPr>
        <p:spPr>
          <a:xfrm>
            <a:off x="10058400" y="5212080"/>
            <a:ext cx="64008" cy="64008"/>
          </a:xfrm>
          <a:prstGeom prst="ellips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7" name="Dot"/>
          <p:cNvSpPr/>
          <p:nvPr userDrawn="1"/>
        </p:nvSpPr>
        <p:spPr>
          <a:xfrm>
            <a:off x="10241280" y="5212080"/>
            <a:ext cx="64008" cy="64008"/>
          </a:xfrm>
          <a:prstGeom prst="ellips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8" name="Dot"/>
          <p:cNvSpPr/>
          <p:nvPr userDrawn="1"/>
        </p:nvSpPr>
        <p:spPr>
          <a:xfrm>
            <a:off x="8778240" y="5394960"/>
            <a:ext cx="64008" cy="64008"/>
          </a:xfrm>
          <a:prstGeom prst="ellipse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9" name="Dot"/>
          <p:cNvSpPr/>
          <p:nvPr userDrawn="1"/>
        </p:nvSpPr>
        <p:spPr>
          <a:xfrm>
            <a:off x="8961119" y="5394960"/>
            <a:ext cx="64008" cy="64008"/>
          </a:xfrm>
          <a:prstGeom prst="ellipse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0" name="Dot"/>
          <p:cNvSpPr/>
          <p:nvPr userDrawn="1"/>
        </p:nvSpPr>
        <p:spPr>
          <a:xfrm>
            <a:off x="9144000" y="5394960"/>
            <a:ext cx="64008" cy="64008"/>
          </a:xfrm>
          <a:prstGeom prst="ellipse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1" name="Dot"/>
          <p:cNvSpPr/>
          <p:nvPr userDrawn="1"/>
        </p:nvSpPr>
        <p:spPr>
          <a:xfrm>
            <a:off x="9326880" y="5394960"/>
            <a:ext cx="64008" cy="64008"/>
          </a:xfrm>
          <a:prstGeom prst="ellipse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2" name="Dot"/>
          <p:cNvSpPr/>
          <p:nvPr userDrawn="1"/>
        </p:nvSpPr>
        <p:spPr>
          <a:xfrm>
            <a:off x="9509760" y="5394960"/>
            <a:ext cx="64008" cy="64008"/>
          </a:xfrm>
          <a:prstGeom prst="ellipse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3" name="Dot"/>
          <p:cNvSpPr/>
          <p:nvPr userDrawn="1"/>
        </p:nvSpPr>
        <p:spPr>
          <a:xfrm>
            <a:off x="9692640" y="5394960"/>
            <a:ext cx="64008" cy="64008"/>
          </a:xfrm>
          <a:prstGeom prst="ellipse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4" name="Dot"/>
          <p:cNvSpPr/>
          <p:nvPr userDrawn="1"/>
        </p:nvSpPr>
        <p:spPr>
          <a:xfrm>
            <a:off x="9875520" y="5394960"/>
            <a:ext cx="64008" cy="64008"/>
          </a:xfrm>
          <a:prstGeom prst="ellipse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5" name="Dot"/>
          <p:cNvSpPr/>
          <p:nvPr userDrawn="1"/>
        </p:nvSpPr>
        <p:spPr>
          <a:xfrm>
            <a:off x="10058400" y="5394960"/>
            <a:ext cx="64008" cy="64008"/>
          </a:xfrm>
          <a:prstGeom prst="ellipse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6" name="Dot"/>
          <p:cNvSpPr/>
          <p:nvPr userDrawn="1"/>
        </p:nvSpPr>
        <p:spPr>
          <a:xfrm>
            <a:off x="10241280" y="5394960"/>
            <a:ext cx="64008" cy="64008"/>
          </a:xfrm>
          <a:prstGeom prst="ellipse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7" name="Dot"/>
          <p:cNvSpPr/>
          <p:nvPr userDrawn="1"/>
        </p:nvSpPr>
        <p:spPr>
          <a:xfrm>
            <a:off x="8778240" y="5577840"/>
            <a:ext cx="64008" cy="64008"/>
          </a:xfrm>
          <a:prstGeom prst="ellipse">
            <a:avLst/>
          </a:prstGeom>
          <a:solidFill>
            <a:srgbClr val="FFFFFF">
              <a:alpha val="4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8" name="Dot"/>
          <p:cNvSpPr/>
          <p:nvPr userDrawn="1"/>
        </p:nvSpPr>
        <p:spPr>
          <a:xfrm>
            <a:off x="8961119" y="5577840"/>
            <a:ext cx="64008" cy="64008"/>
          </a:xfrm>
          <a:prstGeom prst="ellipse">
            <a:avLst/>
          </a:prstGeom>
          <a:solidFill>
            <a:srgbClr val="FFFFFF">
              <a:alpha val="4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9" name="Dot"/>
          <p:cNvSpPr/>
          <p:nvPr userDrawn="1"/>
        </p:nvSpPr>
        <p:spPr>
          <a:xfrm>
            <a:off x="9144000" y="5577840"/>
            <a:ext cx="64008" cy="64008"/>
          </a:xfrm>
          <a:prstGeom prst="ellipse">
            <a:avLst/>
          </a:prstGeom>
          <a:solidFill>
            <a:srgbClr val="FFFFFF">
              <a:alpha val="4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0" name="Dot"/>
          <p:cNvSpPr/>
          <p:nvPr userDrawn="1"/>
        </p:nvSpPr>
        <p:spPr>
          <a:xfrm>
            <a:off x="9326880" y="5577840"/>
            <a:ext cx="64008" cy="64008"/>
          </a:xfrm>
          <a:prstGeom prst="ellipse">
            <a:avLst/>
          </a:prstGeom>
          <a:solidFill>
            <a:srgbClr val="FFFFFF">
              <a:alpha val="4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1" name="Dot"/>
          <p:cNvSpPr/>
          <p:nvPr userDrawn="1"/>
        </p:nvSpPr>
        <p:spPr>
          <a:xfrm>
            <a:off x="9509760" y="5577840"/>
            <a:ext cx="64008" cy="64008"/>
          </a:xfrm>
          <a:prstGeom prst="ellipse">
            <a:avLst/>
          </a:prstGeom>
          <a:solidFill>
            <a:srgbClr val="FFFFFF">
              <a:alpha val="4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2" name="Dot"/>
          <p:cNvSpPr/>
          <p:nvPr userDrawn="1"/>
        </p:nvSpPr>
        <p:spPr>
          <a:xfrm>
            <a:off x="9692640" y="5577840"/>
            <a:ext cx="64008" cy="64008"/>
          </a:xfrm>
          <a:prstGeom prst="ellipse">
            <a:avLst/>
          </a:prstGeom>
          <a:solidFill>
            <a:srgbClr val="FFFFFF">
              <a:alpha val="4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3" name="Dot"/>
          <p:cNvSpPr/>
          <p:nvPr userDrawn="1"/>
        </p:nvSpPr>
        <p:spPr>
          <a:xfrm>
            <a:off x="9875520" y="5577840"/>
            <a:ext cx="64008" cy="64008"/>
          </a:xfrm>
          <a:prstGeom prst="ellipse">
            <a:avLst/>
          </a:prstGeom>
          <a:solidFill>
            <a:srgbClr val="FFFFFF">
              <a:alpha val="4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4" name="Dot"/>
          <p:cNvSpPr/>
          <p:nvPr userDrawn="1"/>
        </p:nvSpPr>
        <p:spPr>
          <a:xfrm>
            <a:off x="10058400" y="5577840"/>
            <a:ext cx="64008" cy="64008"/>
          </a:xfrm>
          <a:prstGeom prst="ellipse">
            <a:avLst/>
          </a:prstGeom>
          <a:solidFill>
            <a:srgbClr val="FFFFFF">
              <a:alpha val="4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5" name="Dot"/>
          <p:cNvSpPr/>
          <p:nvPr userDrawn="1"/>
        </p:nvSpPr>
        <p:spPr>
          <a:xfrm>
            <a:off x="10241280" y="5577840"/>
            <a:ext cx="64008" cy="64008"/>
          </a:xfrm>
          <a:prstGeom prst="ellipse">
            <a:avLst/>
          </a:prstGeom>
          <a:solidFill>
            <a:srgbClr val="FFFFFF">
              <a:alpha val="4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6" name="Dot"/>
          <p:cNvSpPr/>
          <p:nvPr userDrawn="1"/>
        </p:nvSpPr>
        <p:spPr>
          <a:xfrm>
            <a:off x="8778240" y="5760720"/>
            <a:ext cx="64008" cy="64008"/>
          </a:xfrm>
          <a:prstGeom prst="ellipse">
            <a:avLst/>
          </a:prstGeom>
          <a:solidFill>
            <a:srgbClr val="FFFFFF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7" name="Dot"/>
          <p:cNvSpPr/>
          <p:nvPr userDrawn="1"/>
        </p:nvSpPr>
        <p:spPr>
          <a:xfrm>
            <a:off x="8961119" y="5760720"/>
            <a:ext cx="64008" cy="64008"/>
          </a:xfrm>
          <a:prstGeom prst="ellipse">
            <a:avLst/>
          </a:prstGeom>
          <a:solidFill>
            <a:srgbClr val="FFFFFF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8" name="Dot"/>
          <p:cNvSpPr/>
          <p:nvPr userDrawn="1"/>
        </p:nvSpPr>
        <p:spPr>
          <a:xfrm>
            <a:off x="9144000" y="5760720"/>
            <a:ext cx="64008" cy="64008"/>
          </a:xfrm>
          <a:prstGeom prst="ellipse">
            <a:avLst/>
          </a:prstGeom>
          <a:solidFill>
            <a:srgbClr val="FFFFFF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9" name="Dot"/>
          <p:cNvSpPr/>
          <p:nvPr userDrawn="1"/>
        </p:nvSpPr>
        <p:spPr>
          <a:xfrm>
            <a:off x="9326880" y="5760720"/>
            <a:ext cx="64008" cy="64008"/>
          </a:xfrm>
          <a:prstGeom prst="ellipse">
            <a:avLst/>
          </a:prstGeom>
          <a:solidFill>
            <a:srgbClr val="FFFFFF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0" name="Dot"/>
          <p:cNvSpPr/>
          <p:nvPr userDrawn="1"/>
        </p:nvSpPr>
        <p:spPr>
          <a:xfrm>
            <a:off x="9509760" y="5760720"/>
            <a:ext cx="64008" cy="64008"/>
          </a:xfrm>
          <a:prstGeom prst="ellipse">
            <a:avLst/>
          </a:prstGeom>
          <a:solidFill>
            <a:srgbClr val="FFFFFF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1" name="Dot"/>
          <p:cNvSpPr/>
          <p:nvPr userDrawn="1"/>
        </p:nvSpPr>
        <p:spPr>
          <a:xfrm>
            <a:off x="9692640" y="5760720"/>
            <a:ext cx="64008" cy="64008"/>
          </a:xfrm>
          <a:prstGeom prst="ellipse">
            <a:avLst/>
          </a:prstGeom>
          <a:solidFill>
            <a:srgbClr val="FFFFFF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2" name="Dot"/>
          <p:cNvSpPr/>
          <p:nvPr userDrawn="1"/>
        </p:nvSpPr>
        <p:spPr>
          <a:xfrm>
            <a:off x="9875520" y="5760720"/>
            <a:ext cx="64008" cy="64008"/>
          </a:xfrm>
          <a:prstGeom prst="ellipse">
            <a:avLst/>
          </a:prstGeom>
          <a:solidFill>
            <a:srgbClr val="FFFFFF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3" name="Dot"/>
          <p:cNvSpPr/>
          <p:nvPr userDrawn="1"/>
        </p:nvSpPr>
        <p:spPr>
          <a:xfrm>
            <a:off x="10058400" y="5760720"/>
            <a:ext cx="64008" cy="64008"/>
          </a:xfrm>
          <a:prstGeom prst="ellipse">
            <a:avLst/>
          </a:prstGeom>
          <a:solidFill>
            <a:srgbClr val="FFFFFF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4" name="Dot"/>
          <p:cNvSpPr/>
          <p:nvPr userDrawn="1"/>
        </p:nvSpPr>
        <p:spPr>
          <a:xfrm>
            <a:off x="10241280" y="5760720"/>
            <a:ext cx="64008" cy="64008"/>
          </a:xfrm>
          <a:prstGeom prst="ellipse">
            <a:avLst/>
          </a:prstGeom>
          <a:solidFill>
            <a:srgbClr val="FFFFFF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5" name="Dot"/>
          <p:cNvSpPr/>
          <p:nvPr userDrawn="1"/>
        </p:nvSpPr>
        <p:spPr>
          <a:xfrm>
            <a:off x="8778240" y="5943600"/>
            <a:ext cx="64008" cy="64008"/>
          </a:xfrm>
          <a:prstGeom prst="ellipse">
            <a:avLst/>
          </a:prstGeom>
          <a:solidFill>
            <a:srgbClr val="FFFFFF">
              <a:alpha val="2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6" name="Dot"/>
          <p:cNvSpPr/>
          <p:nvPr userDrawn="1"/>
        </p:nvSpPr>
        <p:spPr>
          <a:xfrm>
            <a:off x="8961119" y="5943600"/>
            <a:ext cx="64008" cy="64008"/>
          </a:xfrm>
          <a:prstGeom prst="ellipse">
            <a:avLst/>
          </a:prstGeom>
          <a:solidFill>
            <a:srgbClr val="FFFFFF">
              <a:alpha val="2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7" name="Dot"/>
          <p:cNvSpPr/>
          <p:nvPr userDrawn="1"/>
        </p:nvSpPr>
        <p:spPr>
          <a:xfrm>
            <a:off x="9144000" y="5943600"/>
            <a:ext cx="64008" cy="64008"/>
          </a:xfrm>
          <a:prstGeom prst="ellipse">
            <a:avLst/>
          </a:prstGeom>
          <a:solidFill>
            <a:srgbClr val="FFFFFF">
              <a:alpha val="2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8" name="Dot"/>
          <p:cNvSpPr/>
          <p:nvPr userDrawn="1"/>
        </p:nvSpPr>
        <p:spPr>
          <a:xfrm>
            <a:off x="9326880" y="5943600"/>
            <a:ext cx="64008" cy="64008"/>
          </a:xfrm>
          <a:prstGeom prst="ellipse">
            <a:avLst/>
          </a:prstGeom>
          <a:solidFill>
            <a:srgbClr val="FFFFFF">
              <a:alpha val="2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9" name="Dot"/>
          <p:cNvSpPr/>
          <p:nvPr userDrawn="1"/>
        </p:nvSpPr>
        <p:spPr>
          <a:xfrm>
            <a:off x="9509760" y="5943600"/>
            <a:ext cx="64008" cy="64008"/>
          </a:xfrm>
          <a:prstGeom prst="ellipse">
            <a:avLst/>
          </a:prstGeom>
          <a:solidFill>
            <a:srgbClr val="FFFFFF">
              <a:alpha val="2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0" name="Dot"/>
          <p:cNvSpPr/>
          <p:nvPr userDrawn="1"/>
        </p:nvSpPr>
        <p:spPr>
          <a:xfrm>
            <a:off x="9692640" y="5943600"/>
            <a:ext cx="64008" cy="64008"/>
          </a:xfrm>
          <a:prstGeom prst="ellipse">
            <a:avLst/>
          </a:prstGeom>
          <a:solidFill>
            <a:srgbClr val="FFFFFF">
              <a:alpha val="2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1" name="Dot"/>
          <p:cNvSpPr/>
          <p:nvPr userDrawn="1"/>
        </p:nvSpPr>
        <p:spPr>
          <a:xfrm>
            <a:off x="9875520" y="5943600"/>
            <a:ext cx="64008" cy="64008"/>
          </a:xfrm>
          <a:prstGeom prst="ellipse">
            <a:avLst/>
          </a:prstGeom>
          <a:solidFill>
            <a:srgbClr val="FFFFFF">
              <a:alpha val="2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2" name="Dot"/>
          <p:cNvSpPr/>
          <p:nvPr userDrawn="1"/>
        </p:nvSpPr>
        <p:spPr>
          <a:xfrm>
            <a:off x="10058400" y="5943600"/>
            <a:ext cx="64008" cy="64008"/>
          </a:xfrm>
          <a:prstGeom prst="ellipse">
            <a:avLst/>
          </a:prstGeom>
          <a:solidFill>
            <a:srgbClr val="FFFFFF">
              <a:alpha val="2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3" name="Dot"/>
          <p:cNvSpPr/>
          <p:nvPr userDrawn="1"/>
        </p:nvSpPr>
        <p:spPr>
          <a:xfrm>
            <a:off x="10241280" y="5943600"/>
            <a:ext cx="64008" cy="64008"/>
          </a:xfrm>
          <a:prstGeom prst="ellipse">
            <a:avLst/>
          </a:prstGeom>
          <a:solidFill>
            <a:srgbClr val="FFFFFF">
              <a:alpha val="2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4" name="Dot"/>
          <p:cNvSpPr/>
          <p:nvPr userDrawn="1"/>
        </p:nvSpPr>
        <p:spPr>
          <a:xfrm>
            <a:off x="8778240" y="6126480"/>
            <a:ext cx="64008" cy="6400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5" name="Dot"/>
          <p:cNvSpPr/>
          <p:nvPr userDrawn="1"/>
        </p:nvSpPr>
        <p:spPr>
          <a:xfrm>
            <a:off x="8961119" y="6126480"/>
            <a:ext cx="64008" cy="6400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6" name="Dot"/>
          <p:cNvSpPr/>
          <p:nvPr userDrawn="1"/>
        </p:nvSpPr>
        <p:spPr>
          <a:xfrm>
            <a:off x="9144000" y="6126480"/>
            <a:ext cx="64008" cy="6400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7" name="Dot"/>
          <p:cNvSpPr/>
          <p:nvPr userDrawn="1"/>
        </p:nvSpPr>
        <p:spPr>
          <a:xfrm>
            <a:off x="9326880" y="6126480"/>
            <a:ext cx="64008" cy="6400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8" name="Dot"/>
          <p:cNvSpPr/>
          <p:nvPr userDrawn="1"/>
        </p:nvSpPr>
        <p:spPr>
          <a:xfrm>
            <a:off x="9509760" y="6126480"/>
            <a:ext cx="64008" cy="6400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9" name="Dot"/>
          <p:cNvSpPr/>
          <p:nvPr userDrawn="1"/>
        </p:nvSpPr>
        <p:spPr>
          <a:xfrm>
            <a:off x="9692640" y="6126480"/>
            <a:ext cx="64008" cy="6400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60" name="Dot"/>
          <p:cNvSpPr/>
          <p:nvPr userDrawn="1"/>
        </p:nvSpPr>
        <p:spPr>
          <a:xfrm>
            <a:off x="9875520" y="6126480"/>
            <a:ext cx="64008" cy="6400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61" name="Dot"/>
          <p:cNvSpPr/>
          <p:nvPr userDrawn="1"/>
        </p:nvSpPr>
        <p:spPr>
          <a:xfrm>
            <a:off x="10058400" y="6126480"/>
            <a:ext cx="64008" cy="6400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62" name="Dot"/>
          <p:cNvSpPr/>
          <p:nvPr userDrawn="1"/>
        </p:nvSpPr>
        <p:spPr>
          <a:xfrm>
            <a:off x="10241280" y="6126480"/>
            <a:ext cx="64008" cy="6400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63" name="Deco"/>
          <p:cNvSpPr/>
          <p:nvPr userDrawn="1"/>
        </p:nvSpPr>
        <p:spPr>
          <a:xfrm>
            <a:off x="0" y="6748272"/>
            <a:ext cx="12191695" cy="109728"/>
          </a:xfrm>
          <a:prstGeom prst="rect">
            <a:avLst/>
          </a:prstGeom>
          <a:gradFill rotWithShape="1">
            <a:gsLst>
              <a:gs pos="0">
                <a:srgbClr val="C13DD6">
                  <a:alpha val="100000"/>
                </a:srgbClr>
              </a:gs>
              <a:gs pos="100000">
                <a:srgbClr val="2F5BFF">
                  <a:alpha val="10000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822960" y="1965960"/>
            <a:ext cx="6583680" cy="1737360"/>
          </a:xfrm>
        </p:spPr>
        <p:txBody>
          <a:bodyPr wrap="square" anchor="b"/>
          <a:p>
            <a:pPr algn="l"/>
            <a:r>
              <a:rPr sz="4600" b="1">
                <a:solidFill>
                  <a:srgbClr val="FFFFFF"/>
                </a:solidFill>
              </a:rPr>
              <a:t>Mother &amp; Baby SmartCare</a:t>
            </a: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822960" y="3886200"/>
            <a:ext cx="6583680" cy="1737360"/>
          </a:xfrm>
        </p:spPr>
        <p:txBody>
          <a:bodyPr wrap="square"/>
          <a:p>
            <a:pPr algn="l"/>
            <a:r>
              <a:rPr sz="1700" b="1">
                <a:solidFill>
                  <a:srgbClr val="DDE6FF"/>
                </a:solidFill>
              </a:rPr>
              <a:t>Presented by Syeda Nawal Naqvi (2022-KS-357) and Sibgha Arfan (2022-KS-354)</a:t>
            </a:r>
            <a:endParaRPr dirty="0" lang="en-PK"/>
          </a:p>
          <a:p>
            <a:pPr algn="l"/>
            <a:r>
              <a:rPr sz="1700">
                <a:solidFill>
                  <a:srgbClr val="DDE6FF"/>
                </a:solidFill>
              </a:rPr>
              <a:t>Supervisor: Prof. Hasan Raza</a:t>
            </a:r>
          </a:p>
          <a:p>
            <a:pPr algn="l"/>
            <a:r>
              <a:rPr sz="1700">
                <a:solidFill>
                  <a:srgbClr val="DDE6FF"/>
                </a:solidFill>
              </a:rPr>
              <a:t>BS Information Technology, Session 2022-2026</a:t>
            </a:r>
          </a:p>
          <a:p>
            <a:pPr algn="l"/>
            <a:r>
              <a:rPr sz="1700">
                <a:solidFill>
                  <a:srgbClr val="DDE6FF"/>
                </a:solidFill>
              </a:rPr>
              <a:t>Govt. Graduate College, Civil Lines, Sheikhupura</a:t>
            </a:r>
          </a:p>
        </p:txBody>
      </p:sp>
      <p:pic>
        <p:nvPicPr>
          <p:cNvPr id="1048588" name="Picture 1048587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612648"/>
            <a:ext cx="1106424" cy="9860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Introduction</a:t>
            </a: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9643" lnSpcReduction="10000"/>
          </a:bodyPr>
          <a:p>
            <a:pPr>
              <a:spcAft>
                <a:spcPts val="1400"/>
              </a:spcAft>
            </a:pPr>
            <a:r>
              <a:rPr b="1" sz="2400"/>
              <a:t>Mother &amp; Baby SmartCare </a:t>
            </a:r>
            <a:r>
              <a:rPr sz="2400"/>
              <a:t>is an Android app. It keeps mother and baby health records in one place.</a:t>
            </a:r>
          </a:p>
          <a:p>
            <a:pPr>
              <a:spcAft>
                <a:spcPts val="1400"/>
              </a:spcAft>
            </a:pPr>
            <a:r>
              <a:rPr b="1" sz="2400"/>
              <a:t>Unlike paper files and many small apps, </a:t>
            </a:r>
            <a:r>
              <a:rPr sz="2400"/>
              <a:t>it gives families one safe and simple platform.</a:t>
            </a:r>
          </a:p>
          <a:p>
            <a:pPr>
              <a:spcAft>
                <a:spcPts val="1400"/>
              </a:spcAft>
            </a:pPr>
            <a:r>
              <a:rPr b="1" sz="2400"/>
              <a:t>At the core, </a:t>
            </a:r>
            <a:r>
              <a:rPr sz="2400"/>
              <a:t>it uses Flutter for the app and Firebase for the data. It shows graphs, makes PDF reports and sends reminders.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Problem Statement and its Solution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p>
            <a:pPr>
              <a:spcAft>
                <a:spcPts val="800"/>
              </a:spcAft>
            </a:pPr>
            <a:r>
              <a:rPr b="1" sz="2200"/>
              <a:t>Problem: </a:t>
            </a:r>
            <a:r>
              <a:rPr sz="2200"/>
              <a:t>Families track blood pressure, weight, glucose and vaccines. Most use paper files. Some use many apps.</a:t>
            </a:r>
          </a:p>
          <a:p>
            <a:pPr>
              <a:spcAft>
                <a:spcPts val="800"/>
              </a:spcAft>
            </a:pPr>
            <a:r>
              <a:rPr sz="2200"/>
              <a:t>Paper can get lost. Records are hard to find.</a:t>
            </a:r>
          </a:p>
          <a:p>
            <a:pPr>
              <a:spcAft>
                <a:spcPts val="800"/>
              </a:spcAft>
            </a:pPr>
            <a:r>
              <a:rPr sz="2200"/>
              <a:t>Doctors cannot see the full health history.</a:t>
            </a:r>
          </a:p>
          <a:p>
            <a:pPr>
              <a:spcAft>
                <a:spcPts val="800"/>
              </a:spcAft>
            </a:pPr>
            <a:r>
              <a:rPr b="1" sz="2200"/>
              <a:t>Solution: </a:t>
            </a:r>
            <a:r>
              <a:rPr sz="2200"/>
              <a:t>One secure app for mother and baby records.</a:t>
            </a:r>
          </a:p>
          <a:p>
            <a:pPr>
              <a:spcAft>
                <a:spcPts val="800"/>
              </a:spcAft>
            </a:pPr>
            <a:r>
              <a:rPr sz="2200"/>
              <a:t>Mother and baby are tracked separately.</a:t>
            </a:r>
          </a:p>
          <a:p>
            <a:pPr>
              <a:spcAft>
                <a:spcPts val="800"/>
              </a:spcAft>
            </a:pPr>
            <a:r>
              <a:rPr sz="2200"/>
              <a:t>Graphs show health trends. PDF reports can be shared on WhatsApp or Gmail.</a:t>
            </a:r>
          </a:p>
          <a:p>
            <a:pPr>
              <a:spcAft>
                <a:spcPts val="800"/>
              </a:spcAft>
            </a:pPr>
            <a:r>
              <a:rPr sz="2200"/>
              <a:t>Reminders help users stay on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Objectives of the Proposed System</a:t>
            </a:r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p>
            <a:pPr>
              <a:spcAft>
                <a:spcPts val="600"/>
              </a:spcAft>
            </a:pPr>
            <a:r>
              <a:rPr sz="2200"/>
              <a:t>One secure place for mother and baby records</a:t>
            </a:r>
          </a:p>
          <a:p>
            <a:pPr>
              <a:spcAft>
                <a:spcPts val="600"/>
              </a:spcAft>
            </a:pPr>
            <a:r>
              <a:rPr sz="2200"/>
              <a:t>Roles: mother, father/husband and caretaker</a:t>
            </a:r>
          </a:p>
          <a:p>
            <a:pPr>
              <a:spcAft>
                <a:spcPts val="600"/>
              </a:spcAft>
            </a:pPr>
            <a:r>
              <a:rPr sz="2200"/>
              <a:t>Record blood pressure, glucose and weight</a:t>
            </a:r>
          </a:p>
          <a:p>
            <a:pPr>
              <a:spcAft>
                <a:spcPts val="600"/>
              </a:spcAft>
            </a:pPr>
            <a:r>
              <a:rPr sz="2200"/>
              <a:t>Track baby weight, vaccines and milestones</a:t>
            </a:r>
          </a:p>
          <a:p>
            <a:pPr>
              <a:spcAft>
                <a:spcPts val="600"/>
              </a:spcAft>
            </a:pPr>
            <a:r>
              <a:rPr sz="2200"/>
              <a:t>Show health trends in graphs</a:t>
            </a:r>
          </a:p>
          <a:p>
            <a:pPr>
              <a:spcAft>
                <a:spcPts val="600"/>
              </a:spcAft>
            </a:pPr>
            <a:r>
              <a:rPr sz="2200"/>
              <a:t>Export records as PDF and share them</a:t>
            </a:r>
          </a:p>
          <a:p>
            <a:pPr>
              <a:spcAft>
                <a:spcPts val="600"/>
              </a:spcAft>
            </a:pPr>
            <a:r>
              <a:rPr sz="2200"/>
              <a:t>Send reminders and alerts</a:t>
            </a:r>
          </a:p>
          <a:p>
            <a:pPr>
              <a:spcAft>
                <a:spcPts val="600"/>
              </a:spcAft>
            </a:pPr>
            <a:r>
              <a:rPr sz="2200"/>
              <a:t>Admin panel for users, shop and feedback</a:t>
            </a:r>
          </a:p>
          <a:p>
            <a:pPr>
              <a:spcAft>
                <a:spcPts val="600"/>
              </a:spcAft>
            </a:pPr>
            <a:r>
              <a:rPr sz="2200"/>
              <a:t>Keep health data private and secure</a:t>
            </a:r>
          </a:p>
          <a:p>
            <a:pPr>
              <a:spcAft>
                <a:spcPts val="600"/>
              </a:spcAft>
            </a:pPr>
            <a:r>
              <a:rPr sz="2200"/>
              <a:t>Include a shop for mother and baby products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Scope</a:t>
            </a:r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p>
            <a:pPr>
              <a:spcAft>
                <a:spcPts val="800"/>
              </a:spcAft>
            </a:pPr>
            <a:r>
              <a:rPr b="1" sz="2200"/>
              <a:t>Platform: </a:t>
            </a:r>
            <a:r>
              <a:rPr sz="2200"/>
              <a:t>Android only, built with Flutter.</a:t>
            </a:r>
            <a:endParaRPr dirty="0" lang="en-PK"/>
          </a:p>
          <a:p>
            <a:pPr>
              <a:spcAft>
                <a:spcPts val="800"/>
              </a:spcAft>
            </a:pPr>
            <a:r>
              <a:rPr b="1" sz="2200"/>
              <a:t>Backend: </a:t>
            </a:r>
            <a:r>
              <a:rPr sz="2200"/>
              <a:t>Firebase (login, data, notifications).</a:t>
            </a:r>
          </a:p>
          <a:p>
            <a:pPr>
              <a:spcAft>
                <a:spcPts val="800"/>
              </a:spcAft>
            </a:pPr>
            <a:r>
              <a:rPr b="1" sz="2200"/>
              <a:t>Users: </a:t>
            </a:r>
            <a:r>
              <a:rPr sz="2200"/>
              <a:t>Mother, father/husband, caretaker and admin.</a:t>
            </a:r>
          </a:p>
          <a:p>
            <a:pPr>
              <a:spcAft>
                <a:spcPts val="800"/>
              </a:spcAft>
            </a:pPr>
            <a:r>
              <a:rPr b="1" sz="2200"/>
              <a:t>Mother tracker: </a:t>
            </a:r>
            <a:r>
              <a:rPr sz="2200"/>
              <a:t>Blood pressure, glucose, weight, history, allergies.</a:t>
            </a:r>
          </a:p>
          <a:p>
            <a:pPr>
              <a:spcAft>
                <a:spcPts val="800"/>
              </a:spcAft>
            </a:pPr>
            <a:r>
              <a:rPr b="1" sz="2200"/>
              <a:t>Baby tracker: </a:t>
            </a:r>
            <a:r>
              <a:rPr sz="2200"/>
              <a:t>Weight, vaccines, milestones. Many baby profiles.</a:t>
            </a:r>
          </a:p>
          <a:p>
            <a:pPr>
              <a:spcAft>
                <a:spcPts val="800"/>
              </a:spcAft>
            </a:pPr>
            <a:r>
              <a:rPr b="1" sz="2200"/>
              <a:t>Reports: </a:t>
            </a:r>
            <a:r>
              <a:rPr sz="2200"/>
              <a:t>Graphs and PDF reports. Share through other apps.</a:t>
            </a:r>
          </a:p>
          <a:p>
            <a:pPr>
              <a:spcAft>
                <a:spcPts val="800"/>
              </a:spcAft>
            </a:pPr>
            <a:r>
              <a:rPr b="1" sz="2200"/>
              <a:t>Shop: </a:t>
            </a:r>
            <a:r>
              <a:rPr sz="2200"/>
              <a:t>Browse products only. No payments.</a:t>
            </a:r>
          </a:p>
          <a:p>
            <a:pPr>
              <a:spcAft>
                <a:spcPts val="800"/>
              </a:spcAft>
            </a:pPr>
            <a:r>
              <a:rPr b="1" sz="2200"/>
              <a:t>Admin: </a:t>
            </a:r>
            <a:r>
              <a:rPr sz="2200"/>
              <a:t>Manages users, shop and feedback. Cannot see health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Related System Analysis / Literature Review</a:t>
            </a:r>
          </a:p>
        </p:txBody>
      </p:sp>
      <p:graphicFrame>
        <p:nvGraphicFramePr>
          <p:cNvPr id="1048602" name="Table 1048601"/>
          <p:cNvGraphicFramePr>
            <a:graphicFrameLocks noGrp="1"/>
          </p:cNvGraphicFramePr>
          <p:nvPr/>
        </p:nvGraphicFramePr>
        <p:xfrm>
          <a:off x="822960" y="182880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114800"/>
                <a:gridCol w="4206240"/>
              </a:tblGrid>
              <a:tr h="82296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</a:rPr>
                        <a:t>App</a:t>
                      </a:r>
                    </a:p>
                  </a:txBody>
                  <a:tcPr anchor="ctr">
                    <a:solidFill>
                      <a:srgbClr val="1E2A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</a:rPr>
                        <a:t>Weakness</a:t>
                      </a:r>
                    </a:p>
                  </a:txBody>
                  <a:tcPr anchor="ctr">
                    <a:solidFill>
                      <a:srgbClr val="1E2A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</a:rPr>
                        <a:t>How SmartCare is better</a:t>
                      </a:r>
                    </a:p>
                  </a:txBody>
                  <a:tcPr anchor="ctr">
                    <a:solidFill>
                      <a:srgbClr val="1E2A7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22222"/>
                          </a:solidFill>
                        </a:rPr>
                        <a:t>MumWell</a:t>
                      </a:r>
                    </a:p>
                  </a:txBody>
                  <a:tcPr anchor="ctr"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22222"/>
                          </a:solidFill>
                        </a:rPr>
                        <a:t>No baby tracking, no roles, no PDF</a:t>
                      </a:r>
                    </a:p>
                  </a:txBody>
                  <a:tcPr anchor="ctr"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22222"/>
                          </a:solidFill>
                        </a:rPr>
                        <a:t>Tracks mother and baby, with roles</a:t>
                      </a:r>
                    </a:p>
                  </a:txBody>
                  <a:tcPr anchor="ctr">
                    <a:solidFill>
                      <a:srgbClr val="EAF0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22222"/>
                          </a:solidFill>
                        </a:rPr>
                        <a:t>What to Expect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22222"/>
                          </a:solidFill>
                        </a:rPr>
                        <a:t>No detailed medical data, no roles, no admin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22222"/>
                          </a:solidFill>
                        </a:rPr>
                        <a:t>Records medical data. Has roles and admin panel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22222"/>
                          </a:solidFill>
                        </a:rPr>
                        <a:t>Baby Connect</a:t>
                      </a:r>
                    </a:p>
                  </a:txBody>
                  <a:tcPr anchor="ctr"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22222"/>
                          </a:solidFill>
                        </a:rPr>
                        <a:t>No mother tracking, no graphs, no PDF</a:t>
                      </a:r>
                    </a:p>
                  </a:txBody>
                  <a:tcPr anchor="ctr"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22222"/>
                          </a:solidFill>
                        </a:rPr>
                        <a:t>Tracks both. Has graphs, PDF and admin</a:t>
                      </a:r>
                    </a:p>
                  </a:txBody>
                  <a:tcPr anchor="ctr">
                    <a:solidFill>
                      <a:srgbClr val="EA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Tools and Technologies</a:t>
            </a:r>
          </a:p>
        </p:txBody>
      </p:sp>
      <p:graphicFrame>
        <p:nvGraphicFramePr>
          <p:cNvPr id="1048604" name="Table 1048603"/>
          <p:cNvGraphicFramePr>
            <a:graphicFrameLocks noGrp="1"/>
          </p:cNvGraphicFramePr>
          <p:nvPr/>
        </p:nvGraphicFramePr>
        <p:xfrm>
          <a:off x="1097280" y="1600200"/>
          <a:ext cx="99669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5943600"/>
              </a:tblGrid>
              <a:tr h="42062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anchor="ctr">
                    <a:solidFill>
                      <a:srgbClr val="1E2A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Why we used it</a:t>
                      </a:r>
                    </a:p>
                  </a:txBody>
                  <a:tcPr anchor="ctr">
                    <a:solidFill>
                      <a:srgbClr val="1E2A7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</a:rPr>
                        <a:t>Flutter and Dart</a:t>
                      </a:r>
                    </a:p>
                  </a:txBody>
                  <a:tcPr anchor="ctr"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</a:rPr>
                        <a:t>Build the user app and admin panel</a:t>
                      </a:r>
                    </a:p>
                  </a:txBody>
                  <a:tcPr anchor="ctr">
                    <a:solidFill>
                      <a:srgbClr val="EAF0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</a:rPr>
                        <a:t>Firebase Authentication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</a:rPr>
                        <a:t>Safe login and email verification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</a:rPr>
                        <a:t>Cloud Firestore</a:t>
                      </a:r>
                    </a:p>
                  </a:txBody>
                  <a:tcPr anchor="ctr"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</a:rPr>
                        <a:t>Store all data in real time</a:t>
                      </a:r>
                    </a:p>
                  </a:txBody>
                  <a:tcPr anchor="ctr">
                    <a:solidFill>
                      <a:srgbClr val="EAF0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</a:rPr>
                        <a:t>Google Sign-In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</a:rPr>
                        <a:t>Quick login with Google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</a:rPr>
                        <a:t>Provider</a:t>
                      </a:r>
                    </a:p>
                  </a:txBody>
                  <a:tcPr anchor="ctr"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</a:rPr>
                        <a:t>Manage app state</a:t>
                      </a:r>
                    </a:p>
                  </a:txBody>
                  <a:tcPr anchor="ctr">
                    <a:solidFill>
                      <a:srgbClr val="EAF0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</a:rPr>
                        <a:t>fl_chart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</a:rPr>
                        <a:t>Draw health graphs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</a:rPr>
                        <a:t>pdf and share_plus</a:t>
                      </a:r>
                    </a:p>
                  </a:txBody>
                  <a:tcPr anchor="ctr"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</a:rPr>
                        <a:t>Make and share PDF reports</a:t>
                      </a:r>
                    </a:p>
                  </a:txBody>
                  <a:tcPr anchor="ctr">
                    <a:solidFill>
                      <a:srgbClr val="EAF0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</a:rPr>
                        <a:t>Local notifications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</a:rPr>
                        <a:t>Reminders and alerts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</a:rPr>
                        <a:t>VS Code, Figma, Draw.io</a:t>
                      </a:r>
                    </a:p>
                  </a:txBody>
                  <a:tcPr anchor="ctr"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2222"/>
                          </a:solidFill>
                        </a:rPr>
                        <a:t>Coding, UI design and diagrams</a:t>
                      </a:r>
                    </a:p>
                  </a:txBody>
                  <a:tcPr anchor="ctr">
                    <a:solidFill>
                      <a:srgbClr val="EA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Functional Requirements</a:t>
            </a:r>
          </a:p>
        </p:txBody>
      </p:sp>
      <p:sp>
        <p:nvSpPr>
          <p:cNvPr id="1048606" name="TextBox 1048605"/>
          <p:cNvSpPr txBox="1"/>
          <p:nvPr/>
        </p:nvSpPr>
        <p:spPr>
          <a:xfrm>
            <a:off x="82296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b="1" sz="2200"/>
              <a:t>User App</a:t>
            </a:r>
          </a:p>
          <a:p>
            <a:pPr>
              <a:spcAft>
                <a:spcPts val="400"/>
              </a:spcAft>
            </a:pPr>
            <a:r>
              <a:rPr sz="2000"/>
              <a:t>• Sign up, login, Google sign-in</a:t>
            </a:r>
          </a:p>
          <a:p>
            <a:pPr>
              <a:spcAft>
                <a:spcPts val="400"/>
              </a:spcAft>
            </a:pPr>
            <a:r>
              <a:rPr sz="2000"/>
              <a:t>• Email verification, password reset</a:t>
            </a:r>
          </a:p>
          <a:p>
            <a:pPr>
              <a:spcAft>
                <a:spcPts val="400"/>
              </a:spcAft>
            </a:pPr>
            <a:r>
              <a:rPr sz="2000"/>
              <a:t>• Mother health tracker</a:t>
            </a:r>
          </a:p>
          <a:p>
            <a:pPr>
              <a:spcAft>
                <a:spcPts val="400"/>
              </a:spcAft>
            </a:pPr>
            <a:r>
              <a:rPr sz="2000"/>
              <a:t>• Baby health tracker</a:t>
            </a:r>
          </a:p>
          <a:p>
            <a:pPr>
              <a:spcAft>
                <a:spcPts val="400"/>
              </a:spcAft>
            </a:pPr>
            <a:r>
              <a:rPr sz="2000"/>
              <a:t>• Records and graphs</a:t>
            </a:r>
          </a:p>
          <a:p>
            <a:pPr>
              <a:spcAft>
                <a:spcPts val="400"/>
              </a:spcAft>
            </a:pPr>
            <a:r>
              <a:rPr sz="2000"/>
              <a:t>• PDF reports and sharing</a:t>
            </a:r>
          </a:p>
          <a:p>
            <a:pPr>
              <a:spcAft>
                <a:spcPts val="400"/>
              </a:spcAft>
            </a:pPr>
            <a:r>
              <a:rPr sz="2000"/>
              <a:t>• Notifications and login alerts</a:t>
            </a:r>
          </a:p>
          <a:p>
            <a:pPr>
              <a:spcAft>
                <a:spcPts val="400"/>
              </a:spcAft>
            </a:pPr>
            <a:r>
              <a:rPr sz="2000"/>
              <a:t>• Shop, feedback and help</a:t>
            </a:r>
          </a:p>
          <a:p>
            <a:pPr>
              <a:spcAft>
                <a:spcPts val="400"/>
              </a:spcAft>
            </a:pPr>
            <a:r>
              <a:rPr sz="2000"/>
              <a:t>• Profile and settings</a:t>
            </a:r>
          </a:p>
        </p:txBody>
      </p:sp>
      <p:sp>
        <p:nvSpPr>
          <p:cNvPr id="1048607" name="TextBox 1048606"/>
          <p:cNvSpPr txBox="1"/>
          <p:nvPr/>
        </p:nvSpPr>
        <p:spPr>
          <a:xfrm>
            <a:off x="6400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b="1" sz="2200"/>
              <a:t>Admin Panel</a:t>
            </a:r>
          </a:p>
          <a:p>
            <a:pPr>
              <a:spcAft>
                <a:spcPts val="400"/>
              </a:spcAft>
            </a:pPr>
            <a:r>
              <a:rPr sz="2000"/>
              <a:t>• Admin login and dashboard</a:t>
            </a:r>
          </a:p>
          <a:p>
            <a:pPr>
              <a:spcAft>
                <a:spcPts val="400"/>
              </a:spcAft>
            </a:pPr>
            <a:r>
              <a:rPr sz="2000"/>
              <a:t>• Manage users (block / unblock)</a:t>
            </a:r>
          </a:p>
          <a:p>
            <a:pPr>
              <a:spcAft>
                <a:spcPts val="400"/>
              </a:spcAft>
            </a:pPr>
            <a:r>
              <a:rPr sz="2000"/>
              <a:t>• Manage shop products</a:t>
            </a:r>
          </a:p>
          <a:p>
            <a:pPr>
              <a:spcAft>
                <a:spcPts val="400"/>
              </a:spcAft>
            </a:pPr>
            <a:r>
              <a:rPr sz="2000"/>
              <a:t>• Reply to feedback and help requests</a:t>
            </a:r>
          </a:p>
          <a:p>
            <a:pPr>
              <a:spcAft>
                <a:spcPts val="400"/>
              </a:spcAft>
            </a:pPr>
            <a:r>
              <a:rPr sz="2000"/>
              <a:t>• Send notifications</a:t>
            </a:r>
          </a:p>
          <a:p>
            <a:pPr>
              <a:spcAft>
                <a:spcPts val="400"/>
              </a:spcAft>
            </a:pPr>
            <a:r>
              <a:rPr sz="2000"/>
              <a:t>• Cannot see health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Non-Functional Requirements</a:t>
            </a:r>
          </a:p>
        </p:txBody>
      </p:sp>
      <p:sp>
        <p:nvSpPr>
          <p:cNvPr id="1048608" name="TextBox 1048607"/>
          <p:cNvSpPr txBox="1"/>
          <p:nvPr/>
        </p:nvSpPr>
        <p:spPr>
          <a:xfrm>
            <a:off x="82296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b="1" sz="2200"/>
              <a:t>Reliability</a:t>
            </a:r>
          </a:p>
          <a:p>
            <a:pPr>
              <a:spcAft>
                <a:spcPts val="400"/>
              </a:spcAft>
            </a:pPr>
            <a:r>
              <a:rPr sz="2000"/>
              <a:t>• At least 99% uptime</a:t>
            </a:r>
          </a:p>
          <a:p>
            <a:pPr>
              <a:spcAft>
                <a:spcPts val="400"/>
              </a:spcAft>
            </a:pPr>
            <a:r>
              <a:rPr sz="2000"/>
              <a:t>• Shows "No Internet" message, no crash</a:t>
            </a:r>
          </a:p>
          <a:p>
            <a:pPr>
              <a:spcAft>
                <a:spcPts val="400"/>
              </a:spcAft>
            </a:pPr>
            <a:r>
              <a:rPr sz="2000"/>
              <a:t>• No saved record is lost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2200"/>
              <a:t>Usability</a:t>
            </a:r>
          </a:p>
          <a:p>
            <a:pPr>
              <a:spcAft>
                <a:spcPts val="400"/>
              </a:spcAft>
            </a:pPr>
            <a:r>
              <a:rPr sz="2000"/>
              <a:t>• Sign up in under 2 minutes</a:t>
            </a:r>
          </a:p>
          <a:p>
            <a:pPr>
              <a:spcAft>
                <a:spcPts val="400"/>
              </a:spcAft>
            </a:pPr>
            <a:r>
              <a:rPr sz="2000"/>
              <a:t>• Main features within 2 taps</a:t>
            </a:r>
          </a:p>
          <a:p>
            <a:pPr>
              <a:spcAft>
                <a:spcPts val="400"/>
              </a:spcAft>
            </a:pPr>
            <a:r>
              <a:rPr sz="2000"/>
              <a:t>• Light and dark themes</a:t>
            </a:r>
          </a:p>
        </p:txBody>
      </p:sp>
      <p:sp>
        <p:nvSpPr>
          <p:cNvPr id="1048609" name="TextBox 1048608"/>
          <p:cNvSpPr txBox="1"/>
          <p:nvPr/>
        </p:nvSpPr>
        <p:spPr>
          <a:xfrm>
            <a:off x="6400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b="1" sz="2200"/>
              <a:t>Performance</a:t>
            </a:r>
          </a:p>
          <a:p>
            <a:pPr>
              <a:spcAft>
                <a:spcPts val="400"/>
              </a:spcAft>
            </a:pPr>
            <a:r>
              <a:rPr sz="2000"/>
              <a:t>• Home screen loads in 3 seconds</a:t>
            </a:r>
          </a:p>
          <a:p>
            <a:pPr>
              <a:spcAft>
                <a:spcPts val="400"/>
              </a:spcAft>
            </a:pPr>
            <a:r>
              <a:rPr sz="2000"/>
              <a:t>• Data saves in 2 seconds</a:t>
            </a:r>
          </a:p>
          <a:p>
            <a:pPr>
              <a:spcAft>
                <a:spcPts val="400"/>
              </a:spcAft>
            </a:pPr>
            <a:r>
              <a:rPr sz="2000"/>
              <a:t>• PDF ready in 5 seconds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sz="2200"/>
              <a:t>Security</a:t>
            </a:r>
          </a:p>
          <a:p>
            <a:pPr>
              <a:spcAft>
                <a:spcPts val="400"/>
              </a:spcAft>
            </a:pPr>
            <a:r>
              <a:rPr sz="2000"/>
              <a:t>• Passwords stored safely</a:t>
            </a:r>
          </a:p>
          <a:p>
            <a:pPr>
              <a:spcAft>
                <a:spcPts val="400"/>
              </a:spcAft>
            </a:pPr>
            <a:r>
              <a:rPr sz="2000"/>
              <a:t>• Each user sees only own data</a:t>
            </a:r>
          </a:p>
          <a:p>
            <a:pPr>
              <a:spcAft>
                <a:spcPts val="400"/>
              </a:spcAft>
            </a:pPr>
            <a:r>
              <a:rPr sz="2000"/>
              <a:t>• HTTPS and email verification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Use Case Diagrams</a:t>
            </a:r>
          </a:p>
        </p:txBody>
      </p:sp>
      <p:pic>
        <p:nvPicPr>
          <p:cNvPr id="1048610" name="Picture 1048609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4013934" cy="5120640"/>
          </a:xfrm>
          <a:prstGeom prst="rect">
            <a:avLst/>
          </a:prstGeom>
        </p:spPr>
      </p:pic>
      <p:sp>
        <p:nvSpPr>
          <p:cNvPr id="1048611" name="TextBox 1048610"/>
          <p:cNvSpPr txBox="1"/>
          <p:nvPr/>
        </p:nvSpPr>
        <p:spPr>
          <a:xfrm>
            <a:off x="5486400" y="173736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2200"/>
              <a:t>Two actors: </a:t>
            </a:r>
            <a:r>
              <a:rPr sz="2200"/>
              <a:t>User and Admin.</a:t>
            </a:r>
          </a:p>
          <a:p>
            <a:pPr>
              <a:spcAft>
                <a:spcPts val="1400"/>
              </a:spcAft>
            </a:pPr>
            <a:r>
              <a:rPr b="1" sz="2200"/>
              <a:t>User can: </a:t>
            </a:r>
            <a:r>
              <a:rPr sz="2200"/>
              <a:t>sign up, log in, track mother and baby health, view graphs, share PDF, shop, send feedback, manage profile.</a:t>
            </a:r>
          </a:p>
          <a:p>
            <a:pPr>
              <a:spcAft>
                <a:spcPts val="1400"/>
              </a:spcAft>
            </a:pPr>
            <a:r>
              <a:rPr b="1" sz="2200"/>
              <a:t>Admin can: </a:t>
            </a:r>
            <a:r>
              <a:rPr sz="2200"/>
              <a:t>manage users, shop, feedback and help requests, and send notifications.</a:t>
            </a:r>
          </a:p>
          <a:p>
            <a:pPr>
              <a:spcAft>
                <a:spcPts val="1400"/>
              </a:spcAft>
            </a:pPr>
            <a:r>
              <a:rPr b="1" sz="2200"/>
              <a:t>Privacy: </a:t>
            </a:r>
            <a:r>
              <a:rPr sz="2200"/>
              <a:t>Admin cannot see private health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User Scenarios</a:t>
            </a:r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p>
            <a:pPr>
              <a:spcAft>
                <a:spcPts val="1400"/>
              </a:spcAft>
            </a:pPr>
            <a:r>
              <a:rPr b="1" sz="2200"/>
              <a:t>New mother: </a:t>
            </a:r>
            <a:r>
              <a:rPr sz="2200"/>
              <a:t>Signs up, picks a role and verifies her email. Then she sees the home screen.</a:t>
            </a:r>
            <a:endParaRPr lang="en-PK"/>
          </a:p>
          <a:p>
            <a:pPr>
              <a:spcAft>
                <a:spcPts val="1400"/>
              </a:spcAft>
            </a:pPr>
            <a:r>
              <a:rPr b="1" sz="2200"/>
              <a:t>Daily tracking: </a:t>
            </a:r>
            <a:r>
              <a:rPr sz="2200"/>
              <a:t>She adds blood pressure and weight. She adds her baby's vaccine.</a:t>
            </a:r>
          </a:p>
          <a:p>
            <a:pPr>
              <a:spcAft>
                <a:spcPts val="1400"/>
              </a:spcAft>
            </a:pPr>
            <a:r>
              <a:rPr b="1" sz="2200"/>
              <a:t>Check progress: </a:t>
            </a:r>
            <a:r>
              <a:rPr sz="2200"/>
              <a:t>She opens Records &amp; Graphs and sees the trend.</a:t>
            </a:r>
          </a:p>
          <a:p>
            <a:pPr>
              <a:spcAft>
                <a:spcPts val="1400"/>
              </a:spcAft>
            </a:pPr>
            <a:r>
              <a:rPr b="1" sz="2200"/>
              <a:t>Visit the doctor: </a:t>
            </a:r>
            <a:r>
              <a:rPr sz="2200"/>
              <a:t>She makes a PDF report and shares it on WhatsApp or Gmail.</a:t>
            </a:r>
          </a:p>
          <a:p>
            <a:pPr>
              <a:spcAft>
                <a:spcPts val="1400"/>
              </a:spcAft>
            </a:pPr>
            <a:r>
              <a:rPr b="1" sz="2200"/>
              <a:t>Need help: </a:t>
            </a:r>
            <a:r>
              <a:rPr sz="2200"/>
              <a:t>She sends feedback. Admin replies and she gets a notification.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System Design</a:t>
            </a:r>
          </a:p>
        </p:txBody>
      </p:sp>
      <p:sp>
        <p:nvSpPr>
          <p:cNvPr id="1048614" name="Content Placeholder 2"/>
          <p:cNvSpPr>
            <a:spLocks noGrp="1"/>
          </p:cNvSpPr>
          <p:nvPr>
            <p:ph idx="1"/>
          </p:nvPr>
        </p:nvSpPr>
        <p:spPr>
          <a:xfrm>
            <a:off x="822960" y="1325880"/>
            <a:ext cx="10515600" cy="1371600"/>
          </a:xfrm>
        </p:spPr>
        <p:txBody>
          <a:bodyPr wrap="square"/>
          <a:p>
            <a:pPr>
              <a:spcAft>
                <a:spcPts val="400"/>
              </a:spcAft>
            </a:pPr>
            <a:r>
              <a:rPr sz="1800"/>
              <a:t>Layered architecture in a client-server setup.</a:t>
            </a:r>
            <a:endParaRPr dirty="0" lang="en-PK"/>
          </a:p>
          <a:p>
            <a:pPr>
              <a:spcAft>
                <a:spcPts val="400"/>
              </a:spcAft>
            </a:pPr>
            <a:r>
              <a:rPr sz="1800"/>
              <a:t>Layers: Presentation, Business Logic, Repository and Data Model.</a:t>
            </a:r>
          </a:p>
          <a:p>
            <a:pPr>
              <a:spcAft>
                <a:spcPts val="400"/>
              </a:spcAft>
            </a:pPr>
            <a:r>
              <a:rPr sz="1800"/>
              <a:t>Firebase handles login and data. Local storage keeps cached data.</a:t>
            </a:r>
          </a:p>
        </p:txBody>
      </p:sp>
      <p:pic>
        <p:nvPicPr>
          <p:cNvPr id="1048615" name="Picture 1048614" descr="imag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845" y="2743200"/>
            <a:ext cx="7677828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Class Diagram</a:t>
            </a:r>
          </a:p>
        </p:txBody>
      </p:sp>
      <p:pic>
        <p:nvPicPr>
          <p:cNvPr id="1048616" name="Picture 1048615" descr="image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154" y="1371600"/>
            <a:ext cx="8221211" cy="4480560"/>
          </a:xfrm>
          <a:prstGeom prst="rect">
            <a:avLst/>
          </a:prstGeom>
        </p:spPr>
      </p:pic>
      <p:sp>
        <p:nvSpPr>
          <p:cNvPr id="1048617" name="TextBox 1048616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</a:rPr>
              <a:t>Main classes: User, MotherProfile, BabyProfile, BloodPressure, Glucose, Weight, Vaccination, Milestone, Notification, Feedback, ShopProduct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Hierarchy of Firestore Collections</a:t>
            </a:r>
          </a:p>
        </p:txBody>
      </p:sp>
      <p:pic>
        <p:nvPicPr>
          <p:cNvPr id="1048618" name="Picture 1048617" descr="image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432777" cy="5029200"/>
          </a:xfrm>
          <a:prstGeom prst="rect">
            <a:avLst/>
          </a:prstGeom>
        </p:spPr>
      </p:pic>
      <p:sp>
        <p:nvSpPr>
          <p:cNvPr id="1048619" name="TextBox 1048618"/>
          <p:cNvSpPr txBox="1"/>
          <p:nvPr/>
        </p:nvSpPr>
        <p:spPr>
          <a:xfrm>
            <a:off x="658368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/>
              <a:t>• Firestore is NoSQL, so data is kept as collections and documents.</a:t>
            </a:r>
          </a:p>
          <a:p>
            <a:pPr>
              <a:spcAft>
                <a:spcPts val="1200"/>
              </a:spcAft>
            </a:pPr>
            <a:r>
              <a:rPr sz="2000"/>
              <a:t>• Each user is one document.</a:t>
            </a:r>
          </a:p>
          <a:p>
            <a:pPr>
              <a:spcAft>
                <a:spcPts val="1200"/>
              </a:spcAft>
            </a:pPr>
            <a:r>
              <a:rPr sz="2000"/>
              <a:t>• Mother and baby records are sub-collections under that user.</a:t>
            </a:r>
          </a:p>
          <a:p>
            <a:pPr>
              <a:spcAft>
                <a:spcPts val="1200"/>
              </a:spcAft>
            </a:pPr>
            <a:r>
              <a:rPr sz="2000"/>
              <a:t>• Mother: blood pressure, glucose, weight, history, allergies.</a:t>
            </a:r>
          </a:p>
          <a:p>
            <a:pPr>
              <a:spcAft>
                <a:spcPts val="1200"/>
              </a:spcAft>
            </a:pPr>
            <a:r>
              <a:rPr sz="2000"/>
              <a:t>• Baby: weight, vaccines, allergies, milestones.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Database Model</a:t>
            </a:r>
          </a:p>
        </p:txBody>
      </p:sp>
      <p:sp>
        <p:nvSpPr>
          <p:cNvPr id="1048620" name="Content Placeholder 2"/>
          <p:cNvSpPr>
            <a:spLocks noGrp="1"/>
          </p:cNvSpPr>
          <p:nvPr>
            <p:ph idx="1"/>
          </p:nvPr>
        </p:nvSpPr>
        <p:spPr>
          <a:xfrm>
            <a:off x="822960" y="1325880"/>
            <a:ext cx="10515600" cy="1188720"/>
          </a:xfrm>
        </p:spPr>
        <p:txBody>
          <a:bodyPr wrap="square"/>
          <a:p>
            <a:pPr>
              <a:spcAft>
                <a:spcPts val="400"/>
              </a:spcAft>
            </a:pPr>
            <a:r>
              <a:rPr sz="1800"/>
              <a:t>Database: Cloud Firestore (collections and documents).</a:t>
            </a:r>
            <a:endParaRPr dirty="0" lang="en-PK"/>
          </a:p>
          <a:p>
            <a:pPr>
              <a:spcAft>
                <a:spcPts val="400"/>
              </a:spcAft>
            </a:pPr>
            <a:r>
              <a:rPr sz="1800"/>
              <a:t>Main collections: users, admin_info, feedback, help_requests, notifications, shop_categories, shop_products.</a:t>
            </a:r>
          </a:p>
        </p:txBody>
      </p:sp>
      <p:pic>
        <p:nvPicPr>
          <p:cNvPr id="1048621" name="Picture 1048620" descr="image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885" y="2651760"/>
            <a:ext cx="714375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Activity Sequence Diagram</a:t>
            </a:r>
          </a:p>
        </p:txBody>
      </p:sp>
      <p:pic>
        <p:nvPicPr>
          <p:cNvPr id="1048622" name="Picture 1048621" descr="image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36" y="1600200"/>
            <a:ext cx="2933367" cy="4206240"/>
          </a:xfrm>
          <a:prstGeom prst="rect">
            <a:avLst/>
          </a:prstGeom>
        </p:spPr>
      </p:pic>
      <p:pic>
        <p:nvPicPr>
          <p:cNvPr id="1048623" name="Picture 1048622" descr="image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328" y="1600200"/>
            <a:ext cx="2718142" cy="4206240"/>
          </a:xfrm>
          <a:prstGeom prst="rect">
            <a:avLst/>
          </a:prstGeom>
        </p:spPr>
      </p:pic>
      <p:pic>
        <p:nvPicPr>
          <p:cNvPr id="1048624" name="Picture 1048623" descr="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587" y="1600200"/>
            <a:ext cx="4514344" cy="3840480"/>
          </a:xfrm>
          <a:prstGeom prst="rect">
            <a:avLst/>
          </a:prstGeom>
        </p:spPr>
      </p:pic>
      <p:sp>
        <p:nvSpPr>
          <p:cNvPr id="1048625" name="TextBox 1048624"/>
          <p:cNvSpPr txBox="1"/>
          <p:nvPr/>
        </p:nvSpPr>
        <p:spPr>
          <a:xfrm>
            <a:off x="457200" y="5852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</a:rPr>
              <a:t>User activity flow</a:t>
            </a:r>
          </a:p>
        </p:txBody>
      </p:sp>
      <p:sp>
        <p:nvSpPr>
          <p:cNvPr id="1048626" name="TextBox 1048625"/>
          <p:cNvSpPr txBox="1"/>
          <p:nvPr/>
        </p:nvSpPr>
        <p:spPr>
          <a:xfrm>
            <a:off x="4023360" y="5852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</a:rPr>
              <a:t>Admin activity flow</a:t>
            </a:r>
          </a:p>
        </p:txBody>
      </p:sp>
      <p:sp>
        <p:nvSpPr>
          <p:cNvPr id="1048627" name="TextBox 1048626"/>
          <p:cNvSpPr txBox="1"/>
          <p:nvPr/>
        </p:nvSpPr>
        <p:spPr>
          <a:xfrm>
            <a:off x="7223760" y="5852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</a:rPr>
              <a:t>Sequence: user registration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User Interfaces</a:t>
            </a:r>
          </a:p>
        </p:txBody>
      </p:sp>
      <p:pic>
        <p:nvPicPr>
          <p:cNvPr id="1048624" name="Picture 1048623" descr="image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1783080" cy="3859377"/>
          </a:xfrm>
          <a:prstGeom prst="rect">
            <a:avLst/>
          </a:prstGeom>
        </p:spPr>
      </p:pic>
      <p:sp>
        <p:nvSpPr>
          <p:cNvPr id="1048625" name="TextBox 1048624"/>
          <p:cNvSpPr txBox="1"/>
          <p:nvPr/>
        </p:nvSpPr>
        <p:spPr>
          <a:xfrm>
            <a:off x="502920" y="5413857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95959"/>
                </a:solidFill>
              </a:rPr>
              <a:t>Splash</a:t>
            </a:r>
          </a:p>
        </p:txBody>
      </p:sp>
      <p:pic>
        <p:nvPicPr>
          <p:cNvPr id="1048626" name="Picture 1048625" descr="image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1508760"/>
            <a:ext cx="1783080" cy="3859377"/>
          </a:xfrm>
          <a:prstGeom prst="rect">
            <a:avLst/>
          </a:prstGeom>
        </p:spPr>
      </p:pic>
      <p:sp>
        <p:nvSpPr>
          <p:cNvPr id="1048627" name="TextBox 1048626"/>
          <p:cNvSpPr txBox="1"/>
          <p:nvPr/>
        </p:nvSpPr>
        <p:spPr>
          <a:xfrm>
            <a:off x="2395728" y="5413857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95959"/>
                </a:solidFill>
              </a:rPr>
              <a:t>Home</a:t>
            </a:r>
          </a:p>
        </p:txBody>
      </p:sp>
      <p:pic>
        <p:nvPicPr>
          <p:cNvPr id="1048628" name="Picture 1048627" descr="image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1508760"/>
            <a:ext cx="1783080" cy="3859377"/>
          </a:xfrm>
          <a:prstGeom prst="rect">
            <a:avLst/>
          </a:prstGeom>
        </p:spPr>
      </p:pic>
      <p:sp>
        <p:nvSpPr>
          <p:cNvPr id="1048629" name="TextBox 1048628"/>
          <p:cNvSpPr txBox="1"/>
          <p:nvPr/>
        </p:nvSpPr>
        <p:spPr>
          <a:xfrm>
            <a:off x="4288536" y="5413857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95959"/>
                </a:solidFill>
              </a:rPr>
              <a:t>Mother Tracker</a:t>
            </a:r>
          </a:p>
        </p:txBody>
      </p:sp>
      <p:pic>
        <p:nvPicPr>
          <p:cNvPr id="1048630" name="Picture 1048629" descr="image6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508760"/>
            <a:ext cx="1783080" cy="3859377"/>
          </a:xfrm>
          <a:prstGeom prst="rect">
            <a:avLst/>
          </a:prstGeom>
        </p:spPr>
      </p:pic>
      <p:sp>
        <p:nvSpPr>
          <p:cNvPr id="1048631" name="TextBox 1048630"/>
          <p:cNvSpPr txBox="1"/>
          <p:nvPr/>
        </p:nvSpPr>
        <p:spPr>
          <a:xfrm>
            <a:off x="6181344" y="5413857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95959"/>
                </a:solidFill>
              </a:rPr>
              <a:t>Baby Profiles</a:t>
            </a:r>
          </a:p>
        </p:txBody>
      </p:sp>
      <p:pic>
        <p:nvPicPr>
          <p:cNvPr id="1048632" name="Picture 1048631" descr="image6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152" y="1508760"/>
            <a:ext cx="1783080" cy="3859377"/>
          </a:xfrm>
          <a:prstGeom prst="rect">
            <a:avLst/>
          </a:prstGeom>
        </p:spPr>
      </p:pic>
      <p:sp>
        <p:nvSpPr>
          <p:cNvPr id="1048633" name="TextBox 1048632"/>
          <p:cNvSpPr txBox="1"/>
          <p:nvPr/>
        </p:nvSpPr>
        <p:spPr>
          <a:xfrm>
            <a:off x="8074152" y="5413857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95959"/>
                </a:solidFill>
              </a:rPr>
              <a:t>Records &amp; Graphs</a:t>
            </a:r>
          </a:p>
        </p:txBody>
      </p:sp>
      <p:pic>
        <p:nvPicPr>
          <p:cNvPr id="1048634" name="Picture 1048633" descr="image6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0" y="1508760"/>
            <a:ext cx="1783080" cy="3859377"/>
          </a:xfrm>
          <a:prstGeom prst="rect">
            <a:avLst/>
          </a:prstGeom>
        </p:spPr>
      </p:pic>
      <p:sp>
        <p:nvSpPr>
          <p:cNvPr id="1048635" name="TextBox 1048634"/>
          <p:cNvSpPr txBox="1"/>
          <p:nvPr/>
        </p:nvSpPr>
        <p:spPr>
          <a:xfrm>
            <a:off x="9966960" y="5413857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95959"/>
                </a:solidFill>
              </a:rPr>
              <a:t>Shop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061245"/>
            </a:gs>
            <a:gs pos="100000">
              <a:srgbClr val="1B3FC9"/>
            </a:gs>
          </a:gsLst>
          <a:lin ang="2700000" scaled="0"/>
        </a:gradFill>
        <a:effectLst/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4" name="Deco"/>
          <p:cNvSpPr/>
          <p:nvPr userDrawn="1"/>
        </p:nvSpPr>
        <p:spPr>
          <a:xfrm>
            <a:off x="6949440" y="822960"/>
            <a:ext cx="5303520" cy="5303520"/>
          </a:xfrm>
          <a:prstGeom prst="ellipse">
            <a:avLst/>
          </a:prstGeom>
          <a:gradFill rotWithShape="1">
            <a:gsLst>
              <a:gs pos="0">
                <a:srgbClr val="3B6BFF">
                  <a:alpha val="95000"/>
                </a:srgbClr>
              </a:gs>
              <a:gs pos="100000">
                <a:srgbClr val="8A2BE2">
                  <a:alpha val="95000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65" name="Deco"/>
          <p:cNvSpPr/>
          <p:nvPr userDrawn="1"/>
        </p:nvSpPr>
        <p:spPr>
          <a:xfrm>
            <a:off x="9692640" y="3566160"/>
            <a:ext cx="3108960" cy="3108960"/>
          </a:xfrm>
          <a:prstGeom prst="ellipse">
            <a:avLst/>
          </a:prstGeom>
          <a:gradFill rotWithShape="1">
            <a:gsLst>
              <a:gs pos="0">
                <a:srgbClr val="C13DD6">
                  <a:alpha val="90000"/>
                </a:srgbClr>
              </a:gs>
              <a:gs pos="100000">
                <a:srgbClr val="8A2BE2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66" name="Deco"/>
          <p:cNvSpPr/>
          <p:nvPr userDrawn="1"/>
        </p:nvSpPr>
        <p:spPr>
          <a:xfrm>
            <a:off x="8412480" y="-731520"/>
            <a:ext cx="1463040" cy="1463040"/>
          </a:xfrm>
          <a:prstGeom prst="ellipse">
            <a:avLst/>
          </a:prstGeom>
          <a:gradFill rotWithShape="1">
            <a:gsLst>
              <a:gs pos="0">
                <a:srgbClr val="8A2BE2">
                  <a:alpha val="70000"/>
                </a:srgbClr>
              </a:gs>
              <a:gs pos="100000">
                <a:srgbClr val="C13DD6">
                  <a:alpha val="70000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67" name="Deco"/>
          <p:cNvSpPr/>
          <p:nvPr userDrawn="1"/>
        </p:nvSpPr>
        <p:spPr>
          <a:xfrm>
            <a:off x="6400800" y="5120640"/>
            <a:ext cx="320040" cy="32004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68" name="Dot"/>
          <p:cNvSpPr/>
          <p:nvPr userDrawn="1"/>
        </p:nvSpPr>
        <p:spPr>
          <a:xfrm>
            <a:off x="8778240" y="5212080"/>
            <a:ext cx="64008" cy="64008"/>
          </a:xfrm>
          <a:prstGeom prst="ellips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69" name="Dot"/>
          <p:cNvSpPr/>
          <p:nvPr userDrawn="1"/>
        </p:nvSpPr>
        <p:spPr>
          <a:xfrm>
            <a:off x="8961119" y="5212080"/>
            <a:ext cx="64008" cy="64008"/>
          </a:xfrm>
          <a:prstGeom prst="ellips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70" name="Dot"/>
          <p:cNvSpPr/>
          <p:nvPr userDrawn="1"/>
        </p:nvSpPr>
        <p:spPr>
          <a:xfrm>
            <a:off x="9144000" y="5212080"/>
            <a:ext cx="64008" cy="64008"/>
          </a:xfrm>
          <a:prstGeom prst="ellips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71" name="Dot"/>
          <p:cNvSpPr/>
          <p:nvPr userDrawn="1"/>
        </p:nvSpPr>
        <p:spPr>
          <a:xfrm>
            <a:off x="9326880" y="5212080"/>
            <a:ext cx="64008" cy="64008"/>
          </a:xfrm>
          <a:prstGeom prst="ellips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72" name="Dot"/>
          <p:cNvSpPr/>
          <p:nvPr userDrawn="1"/>
        </p:nvSpPr>
        <p:spPr>
          <a:xfrm>
            <a:off x="9509760" y="5212080"/>
            <a:ext cx="64008" cy="64008"/>
          </a:xfrm>
          <a:prstGeom prst="ellips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73" name="Dot"/>
          <p:cNvSpPr/>
          <p:nvPr userDrawn="1"/>
        </p:nvSpPr>
        <p:spPr>
          <a:xfrm>
            <a:off x="9692640" y="5212080"/>
            <a:ext cx="64008" cy="64008"/>
          </a:xfrm>
          <a:prstGeom prst="ellips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74" name="Dot"/>
          <p:cNvSpPr/>
          <p:nvPr userDrawn="1"/>
        </p:nvSpPr>
        <p:spPr>
          <a:xfrm>
            <a:off x="9875520" y="5212080"/>
            <a:ext cx="64008" cy="64008"/>
          </a:xfrm>
          <a:prstGeom prst="ellips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75" name="Dot"/>
          <p:cNvSpPr/>
          <p:nvPr userDrawn="1"/>
        </p:nvSpPr>
        <p:spPr>
          <a:xfrm>
            <a:off x="10058400" y="5212080"/>
            <a:ext cx="64008" cy="64008"/>
          </a:xfrm>
          <a:prstGeom prst="ellips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76" name="Dot"/>
          <p:cNvSpPr/>
          <p:nvPr userDrawn="1"/>
        </p:nvSpPr>
        <p:spPr>
          <a:xfrm>
            <a:off x="10241280" y="5212080"/>
            <a:ext cx="64008" cy="64008"/>
          </a:xfrm>
          <a:prstGeom prst="ellipse">
            <a:avLst/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77" name="Dot"/>
          <p:cNvSpPr/>
          <p:nvPr userDrawn="1"/>
        </p:nvSpPr>
        <p:spPr>
          <a:xfrm>
            <a:off x="8778240" y="5394960"/>
            <a:ext cx="64008" cy="64008"/>
          </a:xfrm>
          <a:prstGeom prst="ellipse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78" name="Dot"/>
          <p:cNvSpPr/>
          <p:nvPr userDrawn="1"/>
        </p:nvSpPr>
        <p:spPr>
          <a:xfrm>
            <a:off x="8961119" y="5394960"/>
            <a:ext cx="64008" cy="64008"/>
          </a:xfrm>
          <a:prstGeom prst="ellipse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79" name="Dot"/>
          <p:cNvSpPr/>
          <p:nvPr userDrawn="1"/>
        </p:nvSpPr>
        <p:spPr>
          <a:xfrm>
            <a:off x="9144000" y="5394960"/>
            <a:ext cx="64008" cy="64008"/>
          </a:xfrm>
          <a:prstGeom prst="ellipse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80" name="Dot"/>
          <p:cNvSpPr/>
          <p:nvPr userDrawn="1"/>
        </p:nvSpPr>
        <p:spPr>
          <a:xfrm>
            <a:off x="9326880" y="5394960"/>
            <a:ext cx="64008" cy="64008"/>
          </a:xfrm>
          <a:prstGeom prst="ellipse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81" name="Dot"/>
          <p:cNvSpPr/>
          <p:nvPr userDrawn="1"/>
        </p:nvSpPr>
        <p:spPr>
          <a:xfrm>
            <a:off x="9509760" y="5394960"/>
            <a:ext cx="64008" cy="64008"/>
          </a:xfrm>
          <a:prstGeom prst="ellipse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82" name="Dot"/>
          <p:cNvSpPr/>
          <p:nvPr userDrawn="1"/>
        </p:nvSpPr>
        <p:spPr>
          <a:xfrm>
            <a:off x="9692640" y="5394960"/>
            <a:ext cx="64008" cy="64008"/>
          </a:xfrm>
          <a:prstGeom prst="ellipse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83" name="Dot"/>
          <p:cNvSpPr/>
          <p:nvPr userDrawn="1"/>
        </p:nvSpPr>
        <p:spPr>
          <a:xfrm>
            <a:off x="9875520" y="5394960"/>
            <a:ext cx="64008" cy="64008"/>
          </a:xfrm>
          <a:prstGeom prst="ellipse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84" name="Dot"/>
          <p:cNvSpPr/>
          <p:nvPr userDrawn="1"/>
        </p:nvSpPr>
        <p:spPr>
          <a:xfrm>
            <a:off x="10058400" y="5394960"/>
            <a:ext cx="64008" cy="64008"/>
          </a:xfrm>
          <a:prstGeom prst="ellipse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85" name="Dot"/>
          <p:cNvSpPr/>
          <p:nvPr userDrawn="1"/>
        </p:nvSpPr>
        <p:spPr>
          <a:xfrm>
            <a:off x="10241280" y="5394960"/>
            <a:ext cx="64008" cy="64008"/>
          </a:xfrm>
          <a:prstGeom prst="ellipse">
            <a:avLst/>
          </a:prstGeom>
          <a:solidFill>
            <a:srgbClr val="FFFFFF">
              <a:alpha val="4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86" name="Dot"/>
          <p:cNvSpPr/>
          <p:nvPr userDrawn="1"/>
        </p:nvSpPr>
        <p:spPr>
          <a:xfrm>
            <a:off x="8778240" y="5577840"/>
            <a:ext cx="64008" cy="64008"/>
          </a:xfrm>
          <a:prstGeom prst="ellipse">
            <a:avLst/>
          </a:prstGeom>
          <a:solidFill>
            <a:srgbClr val="FFFFFF">
              <a:alpha val="4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87" name="Dot"/>
          <p:cNvSpPr/>
          <p:nvPr userDrawn="1"/>
        </p:nvSpPr>
        <p:spPr>
          <a:xfrm>
            <a:off x="8961119" y="5577840"/>
            <a:ext cx="64008" cy="64008"/>
          </a:xfrm>
          <a:prstGeom prst="ellipse">
            <a:avLst/>
          </a:prstGeom>
          <a:solidFill>
            <a:srgbClr val="FFFFFF">
              <a:alpha val="4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88" name="Dot"/>
          <p:cNvSpPr/>
          <p:nvPr userDrawn="1"/>
        </p:nvSpPr>
        <p:spPr>
          <a:xfrm>
            <a:off x="9144000" y="5577840"/>
            <a:ext cx="64008" cy="64008"/>
          </a:xfrm>
          <a:prstGeom prst="ellipse">
            <a:avLst/>
          </a:prstGeom>
          <a:solidFill>
            <a:srgbClr val="FFFFFF">
              <a:alpha val="4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89" name="Dot"/>
          <p:cNvSpPr/>
          <p:nvPr userDrawn="1"/>
        </p:nvSpPr>
        <p:spPr>
          <a:xfrm>
            <a:off x="9326880" y="5577840"/>
            <a:ext cx="64008" cy="64008"/>
          </a:xfrm>
          <a:prstGeom prst="ellipse">
            <a:avLst/>
          </a:prstGeom>
          <a:solidFill>
            <a:srgbClr val="FFFFFF">
              <a:alpha val="4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0" name="Dot"/>
          <p:cNvSpPr/>
          <p:nvPr userDrawn="1"/>
        </p:nvSpPr>
        <p:spPr>
          <a:xfrm>
            <a:off x="9509760" y="5577840"/>
            <a:ext cx="64008" cy="64008"/>
          </a:xfrm>
          <a:prstGeom prst="ellipse">
            <a:avLst/>
          </a:prstGeom>
          <a:solidFill>
            <a:srgbClr val="FFFFFF">
              <a:alpha val="4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1" name="Dot"/>
          <p:cNvSpPr/>
          <p:nvPr userDrawn="1"/>
        </p:nvSpPr>
        <p:spPr>
          <a:xfrm>
            <a:off x="9692640" y="5577840"/>
            <a:ext cx="64008" cy="64008"/>
          </a:xfrm>
          <a:prstGeom prst="ellipse">
            <a:avLst/>
          </a:prstGeom>
          <a:solidFill>
            <a:srgbClr val="FFFFFF">
              <a:alpha val="4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2" name="Dot"/>
          <p:cNvSpPr/>
          <p:nvPr userDrawn="1"/>
        </p:nvSpPr>
        <p:spPr>
          <a:xfrm>
            <a:off x="9875520" y="5577840"/>
            <a:ext cx="64008" cy="64008"/>
          </a:xfrm>
          <a:prstGeom prst="ellipse">
            <a:avLst/>
          </a:prstGeom>
          <a:solidFill>
            <a:srgbClr val="FFFFFF">
              <a:alpha val="4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3" name="Dot"/>
          <p:cNvSpPr/>
          <p:nvPr userDrawn="1"/>
        </p:nvSpPr>
        <p:spPr>
          <a:xfrm>
            <a:off x="10058400" y="5577840"/>
            <a:ext cx="64008" cy="64008"/>
          </a:xfrm>
          <a:prstGeom prst="ellipse">
            <a:avLst/>
          </a:prstGeom>
          <a:solidFill>
            <a:srgbClr val="FFFFFF">
              <a:alpha val="4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4" name="Dot"/>
          <p:cNvSpPr/>
          <p:nvPr userDrawn="1"/>
        </p:nvSpPr>
        <p:spPr>
          <a:xfrm>
            <a:off x="10241280" y="5577840"/>
            <a:ext cx="64008" cy="64008"/>
          </a:xfrm>
          <a:prstGeom prst="ellipse">
            <a:avLst/>
          </a:prstGeom>
          <a:solidFill>
            <a:srgbClr val="FFFFFF">
              <a:alpha val="4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5" name="Dot"/>
          <p:cNvSpPr/>
          <p:nvPr userDrawn="1"/>
        </p:nvSpPr>
        <p:spPr>
          <a:xfrm>
            <a:off x="8778240" y="5760720"/>
            <a:ext cx="64008" cy="64008"/>
          </a:xfrm>
          <a:prstGeom prst="ellipse">
            <a:avLst/>
          </a:prstGeom>
          <a:solidFill>
            <a:srgbClr val="FFFFFF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6" name="Dot"/>
          <p:cNvSpPr/>
          <p:nvPr userDrawn="1"/>
        </p:nvSpPr>
        <p:spPr>
          <a:xfrm>
            <a:off x="8961119" y="5760720"/>
            <a:ext cx="64008" cy="64008"/>
          </a:xfrm>
          <a:prstGeom prst="ellipse">
            <a:avLst/>
          </a:prstGeom>
          <a:solidFill>
            <a:srgbClr val="FFFFFF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7" name="Dot"/>
          <p:cNvSpPr/>
          <p:nvPr userDrawn="1"/>
        </p:nvSpPr>
        <p:spPr>
          <a:xfrm>
            <a:off x="9144000" y="5760720"/>
            <a:ext cx="64008" cy="64008"/>
          </a:xfrm>
          <a:prstGeom prst="ellipse">
            <a:avLst/>
          </a:prstGeom>
          <a:solidFill>
            <a:srgbClr val="FFFFFF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8" name="Dot"/>
          <p:cNvSpPr/>
          <p:nvPr userDrawn="1"/>
        </p:nvSpPr>
        <p:spPr>
          <a:xfrm>
            <a:off x="9326880" y="5760720"/>
            <a:ext cx="64008" cy="64008"/>
          </a:xfrm>
          <a:prstGeom prst="ellipse">
            <a:avLst/>
          </a:prstGeom>
          <a:solidFill>
            <a:srgbClr val="FFFFFF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99" name="Dot"/>
          <p:cNvSpPr/>
          <p:nvPr userDrawn="1"/>
        </p:nvSpPr>
        <p:spPr>
          <a:xfrm>
            <a:off x="9509760" y="5760720"/>
            <a:ext cx="64008" cy="64008"/>
          </a:xfrm>
          <a:prstGeom prst="ellipse">
            <a:avLst/>
          </a:prstGeom>
          <a:solidFill>
            <a:srgbClr val="FFFFFF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0" name="Dot"/>
          <p:cNvSpPr/>
          <p:nvPr userDrawn="1"/>
        </p:nvSpPr>
        <p:spPr>
          <a:xfrm>
            <a:off x="9692640" y="5760720"/>
            <a:ext cx="64008" cy="64008"/>
          </a:xfrm>
          <a:prstGeom prst="ellipse">
            <a:avLst/>
          </a:prstGeom>
          <a:solidFill>
            <a:srgbClr val="FFFFFF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1" name="Dot"/>
          <p:cNvSpPr/>
          <p:nvPr userDrawn="1"/>
        </p:nvSpPr>
        <p:spPr>
          <a:xfrm>
            <a:off x="9875520" y="5760720"/>
            <a:ext cx="64008" cy="64008"/>
          </a:xfrm>
          <a:prstGeom prst="ellipse">
            <a:avLst/>
          </a:prstGeom>
          <a:solidFill>
            <a:srgbClr val="FFFFFF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2" name="Dot"/>
          <p:cNvSpPr/>
          <p:nvPr userDrawn="1"/>
        </p:nvSpPr>
        <p:spPr>
          <a:xfrm>
            <a:off x="10058400" y="5760720"/>
            <a:ext cx="64008" cy="64008"/>
          </a:xfrm>
          <a:prstGeom prst="ellipse">
            <a:avLst/>
          </a:prstGeom>
          <a:solidFill>
            <a:srgbClr val="FFFFFF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3" name="Dot"/>
          <p:cNvSpPr/>
          <p:nvPr userDrawn="1"/>
        </p:nvSpPr>
        <p:spPr>
          <a:xfrm>
            <a:off x="10241280" y="5760720"/>
            <a:ext cx="64008" cy="64008"/>
          </a:xfrm>
          <a:prstGeom prst="ellipse">
            <a:avLst/>
          </a:prstGeom>
          <a:solidFill>
            <a:srgbClr val="FFFFFF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4" name="Dot"/>
          <p:cNvSpPr/>
          <p:nvPr userDrawn="1"/>
        </p:nvSpPr>
        <p:spPr>
          <a:xfrm>
            <a:off x="8778240" y="5943600"/>
            <a:ext cx="64008" cy="64008"/>
          </a:xfrm>
          <a:prstGeom prst="ellipse">
            <a:avLst/>
          </a:prstGeom>
          <a:solidFill>
            <a:srgbClr val="FFFFFF">
              <a:alpha val="2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5" name="Dot"/>
          <p:cNvSpPr/>
          <p:nvPr userDrawn="1"/>
        </p:nvSpPr>
        <p:spPr>
          <a:xfrm>
            <a:off x="8961119" y="5943600"/>
            <a:ext cx="64008" cy="64008"/>
          </a:xfrm>
          <a:prstGeom prst="ellipse">
            <a:avLst/>
          </a:prstGeom>
          <a:solidFill>
            <a:srgbClr val="FFFFFF">
              <a:alpha val="2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6" name="Dot"/>
          <p:cNvSpPr/>
          <p:nvPr userDrawn="1"/>
        </p:nvSpPr>
        <p:spPr>
          <a:xfrm>
            <a:off x="9144000" y="5943600"/>
            <a:ext cx="64008" cy="64008"/>
          </a:xfrm>
          <a:prstGeom prst="ellipse">
            <a:avLst/>
          </a:prstGeom>
          <a:solidFill>
            <a:srgbClr val="FFFFFF">
              <a:alpha val="2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7" name="Dot"/>
          <p:cNvSpPr/>
          <p:nvPr userDrawn="1"/>
        </p:nvSpPr>
        <p:spPr>
          <a:xfrm>
            <a:off x="9326880" y="5943600"/>
            <a:ext cx="64008" cy="64008"/>
          </a:xfrm>
          <a:prstGeom prst="ellipse">
            <a:avLst/>
          </a:prstGeom>
          <a:solidFill>
            <a:srgbClr val="FFFFFF">
              <a:alpha val="2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8" name="Dot"/>
          <p:cNvSpPr/>
          <p:nvPr userDrawn="1"/>
        </p:nvSpPr>
        <p:spPr>
          <a:xfrm>
            <a:off x="9509760" y="5943600"/>
            <a:ext cx="64008" cy="64008"/>
          </a:xfrm>
          <a:prstGeom prst="ellipse">
            <a:avLst/>
          </a:prstGeom>
          <a:solidFill>
            <a:srgbClr val="FFFFFF">
              <a:alpha val="2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9" name="Dot"/>
          <p:cNvSpPr/>
          <p:nvPr userDrawn="1"/>
        </p:nvSpPr>
        <p:spPr>
          <a:xfrm>
            <a:off x="9692640" y="5943600"/>
            <a:ext cx="64008" cy="64008"/>
          </a:xfrm>
          <a:prstGeom prst="ellipse">
            <a:avLst/>
          </a:prstGeom>
          <a:solidFill>
            <a:srgbClr val="FFFFFF">
              <a:alpha val="2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0" name="Dot"/>
          <p:cNvSpPr/>
          <p:nvPr userDrawn="1"/>
        </p:nvSpPr>
        <p:spPr>
          <a:xfrm>
            <a:off x="9875520" y="5943600"/>
            <a:ext cx="64008" cy="64008"/>
          </a:xfrm>
          <a:prstGeom prst="ellipse">
            <a:avLst/>
          </a:prstGeom>
          <a:solidFill>
            <a:srgbClr val="FFFFFF">
              <a:alpha val="2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1" name="Dot"/>
          <p:cNvSpPr/>
          <p:nvPr userDrawn="1"/>
        </p:nvSpPr>
        <p:spPr>
          <a:xfrm>
            <a:off x="10058400" y="5943600"/>
            <a:ext cx="64008" cy="64008"/>
          </a:xfrm>
          <a:prstGeom prst="ellipse">
            <a:avLst/>
          </a:prstGeom>
          <a:solidFill>
            <a:srgbClr val="FFFFFF">
              <a:alpha val="2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2" name="Dot"/>
          <p:cNvSpPr/>
          <p:nvPr userDrawn="1"/>
        </p:nvSpPr>
        <p:spPr>
          <a:xfrm>
            <a:off x="10241280" y="5943600"/>
            <a:ext cx="64008" cy="64008"/>
          </a:xfrm>
          <a:prstGeom prst="ellipse">
            <a:avLst/>
          </a:prstGeom>
          <a:solidFill>
            <a:srgbClr val="FFFFFF">
              <a:alpha val="2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3" name="Dot"/>
          <p:cNvSpPr/>
          <p:nvPr userDrawn="1"/>
        </p:nvSpPr>
        <p:spPr>
          <a:xfrm>
            <a:off x="8778240" y="6126480"/>
            <a:ext cx="64008" cy="6400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4" name="Dot"/>
          <p:cNvSpPr/>
          <p:nvPr userDrawn="1"/>
        </p:nvSpPr>
        <p:spPr>
          <a:xfrm>
            <a:off x="8961119" y="6126480"/>
            <a:ext cx="64008" cy="6400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5" name="Dot"/>
          <p:cNvSpPr/>
          <p:nvPr userDrawn="1"/>
        </p:nvSpPr>
        <p:spPr>
          <a:xfrm>
            <a:off x="9144000" y="6126480"/>
            <a:ext cx="64008" cy="6400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6" name="Dot"/>
          <p:cNvSpPr/>
          <p:nvPr userDrawn="1"/>
        </p:nvSpPr>
        <p:spPr>
          <a:xfrm>
            <a:off x="9326880" y="6126480"/>
            <a:ext cx="64008" cy="6400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7" name="Dot"/>
          <p:cNvSpPr/>
          <p:nvPr userDrawn="1"/>
        </p:nvSpPr>
        <p:spPr>
          <a:xfrm>
            <a:off x="9509760" y="6126480"/>
            <a:ext cx="64008" cy="6400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8" name="Dot"/>
          <p:cNvSpPr/>
          <p:nvPr userDrawn="1"/>
        </p:nvSpPr>
        <p:spPr>
          <a:xfrm>
            <a:off x="9692640" y="6126480"/>
            <a:ext cx="64008" cy="6400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9" name="Dot"/>
          <p:cNvSpPr/>
          <p:nvPr userDrawn="1"/>
        </p:nvSpPr>
        <p:spPr>
          <a:xfrm>
            <a:off x="9875520" y="6126480"/>
            <a:ext cx="64008" cy="6400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20" name="Dot"/>
          <p:cNvSpPr/>
          <p:nvPr userDrawn="1"/>
        </p:nvSpPr>
        <p:spPr>
          <a:xfrm>
            <a:off x="10058400" y="6126480"/>
            <a:ext cx="64008" cy="6400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21" name="Dot"/>
          <p:cNvSpPr/>
          <p:nvPr userDrawn="1"/>
        </p:nvSpPr>
        <p:spPr>
          <a:xfrm>
            <a:off x="10241280" y="6126480"/>
            <a:ext cx="64008" cy="6400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22" name="Deco"/>
          <p:cNvSpPr/>
          <p:nvPr userDrawn="1"/>
        </p:nvSpPr>
        <p:spPr>
          <a:xfrm>
            <a:off x="0" y="6748272"/>
            <a:ext cx="12191695" cy="109728"/>
          </a:xfrm>
          <a:prstGeom prst="rect">
            <a:avLst/>
          </a:prstGeom>
          <a:gradFill rotWithShape="1">
            <a:gsLst>
              <a:gs pos="0">
                <a:srgbClr val="C13DD6">
                  <a:alpha val="100000"/>
                </a:srgbClr>
              </a:gs>
              <a:gs pos="100000">
                <a:srgbClr val="2F5BFF">
                  <a:alpha val="10000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822960" y="2468880"/>
            <a:ext cx="6583680" cy="1645920"/>
          </a:xfrm>
        </p:spPr>
        <p:txBody>
          <a:bodyPr/>
          <a:p>
            <a:pPr algn="l"/>
            <a:r>
              <a:rPr sz="6000">
                <a:solidFill>
                  <a:srgbClr val="FFFFFF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MUZAMMIL MUKHTAR</dc:creator>
  <cp:lastModifiedBy>MUZAMMIL MUKHTAR</cp:lastModifiedBy>
  <dcterms:created xsi:type="dcterms:W3CDTF">2026-03-12T18:32:32Z</dcterms:created>
  <dcterms:modified xsi:type="dcterms:W3CDTF">2026-09-07T03:22:34Z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ee98b3e325204391b15279160f8b1a49_23</vt:lpwstr>
  </property>
</Properties>
</file>